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58" r:id="rId5"/>
    <p:sldId id="273" r:id="rId6"/>
    <p:sldId id="259" r:id="rId7"/>
    <p:sldId id="260" r:id="rId8"/>
    <p:sldId id="261" r:id="rId9"/>
    <p:sldId id="274" r:id="rId10"/>
    <p:sldId id="275" r:id="rId11"/>
    <p:sldId id="276" r:id="rId12"/>
    <p:sldId id="277" r:id="rId13"/>
    <p:sldId id="278" r:id="rId14"/>
    <p:sldId id="270"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p:scale>
          <a:sx n="77" d="100"/>
          <a:sy n="77" d="100"/>
        </p:scale>
        <p:origin x="90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5279C-D051-9FFB-88F1-08D7D3BF1C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7C1A1D-2758-36DA-5143-F362FB50D0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22E149B-0ADD-05F9-A878-4999DA41B2E5}"/>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5" name="Footer Placeholder 4">
            <a:extLst>
              <a:ext uri="{FF2B5EF4-FFF2-40B4-BE49-F238E27FC236}">
                <a16:creationId xmlns:a16="http://schemas.microsoft.com/office/drawing/2014/main" id="{CD002874-40FE-F754-0D4B-2D0D15D30D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0B2B0B-96D4-A12E-BD0C-245D6A122BFC}"/>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814845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2A96C-70B8-BD3C-E5A1-B5E811F69C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718BF7-ACB9-381A-83A8-ED37FBA89C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D55D68-662A-CE83-99E4-3FDEC3B94CB5}"/>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5" name="Footer Placeholder 4">
            <a:extLst>
              <a:ext uri="{FF2B5EF4-FFF2-40B4-BE49-F238E27FC236}">
                <a16:creationId xmlns:a16="http://schemas.microsoft.com/office/drawing/2014/main" id="{CA90534E-3A4F-D1B4-F5E1-E63DE6540E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A4BEC5-D6D2-FE3E-EA17-A7A595253DF6}"/>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2953130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B3790-9D35-F600-72E4-92EADCF263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D00EC9-8CE0-8932-2068-BB896D5E68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73DAB6-4A5B-AA8A-2A7B-D0395746D8BF}"/>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5" name="Footer Placeholder 4">
            <a:extLst>
              <a:ext uri="{FF2B5EF4-FFF2-40B4-BE49-F238E27FC236}">
                <a16:creationId xmlns:a16="http://schemas.microsoft.com/office/drawing/2014/main" id="{745E51E4-FE4A-F89B-EBF9-2D7B3BF63B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6297C0-B98A-B563-6E87-E951AF06A0E7}"/>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3136550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113E-4E77-2D92-9440-A4629D2232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E789BA-FDBE-B583-4F85-2988C4C013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1266E6-5624-9BE3-ADBE-6CECA74922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BEAA8E-2E34-6F56-D9B8-D23D6E7FF0B4}"/>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6" name="Footer Placeholder 5">
            <a:extLst>
              <a:ext uri="{FF2B5EF4-FFF2-40B4-BE49-F238E27FC236}">
                <a16:creationId xmlns:a16="http://schemas.microsoft.com/office/drawing/2014/main" id="{10EE7670-5F53-E819-3770-09D3B79D22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7F4578-B120-0AA4-CE4E-CF081A1C8116}"/>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2382838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C2649-1340-3954-D2E2-43E016B51E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9AA078-5C9A-31DF-D40A-A9745D496F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E54F71-F38B-0594-693C-E1AAA045C8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A817B1-A545-447B-9430-1A227AB4A7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F34A7D-1BB9-25A9-63C9-0D9D25701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4A3DC6-9BE5-BD1C-D0CC-C50A7B06ED24}"/>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8" name="Footer Placeholder 7">
            <a:extLst>
              <a:ext uri="{FF2B5EF4-FFF2-40B4-BE49-F238E27FC236}">
                <a16:creationId xmlns:a16="http://schemas.microsoft.com/office/drawing/2014/main" id="{CAFE95A0-D981-D4F1-ED4B-ED26277800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178ECE-3703-1BAD-E7D6-3CEFAAF63F12}"/>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71690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7DCD-D282-2ED2-621D-E817730849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B92929-DEB2-1EFD-845E-4992BAA03702}"/>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4" name="Footer Placeholder 3">
            <a:extLst>
              <a:ext uri="{FF2B5EF4-FFF2-40B4-BE49-F238E27FC236}">
                <a16:creationId xmlns:a16="http://schemas.microsoft.com/office/drawing/2014/main" id="{9423BC10-2165-D424-25FB-7E9841F550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D2B829-D09E-BA0C-03CE-4FB277AF6B7F}"/>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3027820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4260A3-45D4-CE57-006F-7FC8D44C7C68}"/>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3" name="Footer Placeholder 2">
            <a:extLst>
              <a:ext uri="{FF2B5EF4-FFF2-40B4-BE49-F238E27FC236}">
                <a16:creationId xmlns:a16="http://schemas.microsoft.com/office/drawing/2014/main" id="{278DE188-9438-EFDB-F644-414BBDEFA5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69678B-F210-11C7-40E6-DDE6ADA6C9A6}"/>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4132445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BDB57-0443-E1E2-CA1B-D11F96294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3672B1-8D5E-BAB6-C80C-8969C8D16C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8F8506-65DC-2122-AB48-E5B4AB2A5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106DEF-EAF9-86F1-994C-3062BAF2D4E2}"/>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6" name="Footer Placeholder 5">
            <a:extLst>
              <a:ext uri="{FF2B5EF4-FFF2-40B4-BE49-F238E27FC236}">
                <a16:creationId xmlns:a16="http://schemas.microsoft.com/office/drawing/2014/main" id="{B381C6C6-3F22-991A-E283-ECFC78D410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F43C27-4F51-1030-6C2B-E03E16FD8C07}"/>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1418761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2E035-7102-A2F6-798B-F280E7AF0F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54CE0F-54B7-AD2B-E0B1-7851A62A0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8D5DBE-3D0C-A642-6A01-08C39EC79F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C480FD-C47B-ABCE-A899-982CCCC8F986}"/>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6" name="Footer Placeholder 5">
            <a:extLst>
              <a:ext uri="{FF2B5EF4-FFF2-40B4-BE49-F238E27FC236}">
                <a16:creationId xmlns:a16="http://schemas.microsoft.com/office/drawing/2014/main" id="{D10C978A-1580-A561-4684-1FAC5C9821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F7EF76-489C-8241-2509-87048D5A914C}"/>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395740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3C9BA-8188-58BA-EE09-E52F983B27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15536A-8D28-0B4D-94F9-8004F15360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4A7306-930F-3D63-9E7C-5BA42844BA30}"/>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5" name="Footer Placeholder 4">
            <a:extLst>
              <a:ext uri="{FF2B5EF4-FFF2-40B4-BE49-F238E27FC236}">
                <a16:creationId xmlns:a16="http://schemas.microsoft.com/office/drawing/2014/main" id="{D094D6E5-38AA-AD41-033D-C1440057EF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353A60-365B-142A-F4E7-B780FE0339A0}"/>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2421866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79346-3682-1A20-1F16-737E377841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5BF022-5EB6-DD15-EFF7-17AEC3A582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80D40-89B3-472D-5910-C3A2850EE287}"/>
              </a:ext>
            </a:extLst>
          </p:cNvPr>
          <p:cNvSpPr>
            <a:spLocks noGrp="1"/>
          </p:cNvSpPr>
          <p:nvPr>
            <p:ph type="dt" sz="half" idx="10"/>
          </p:nvPr>
        </p:nvSpPr>
        <p:spPr/>
        <p:txBody>
          <a:bodyPr/>
          <a:lstStyle/>
          <a:p>
            <a:fld id="{5922858D-E80D-4C94-8B40-3795C51D33B1}" type="datetimeFigureOut">
              <a:rPr lang="en-IN" smtClean="0"/>
              <a:t>11-10-2026</a:t>
            </a:fld>
            <a:endParaRPr lang="en-IN"/>
          </a:p>
        </p:txBody>
      </p:sp>
      <p:sp>
        <p:nvSpPr>
          <p:cNvPr id="5" name="Footer Placeholder 4">
            <a:extLst>
              <a:ext uri="{FF2B5EF4-FFF2-40B4-BE49-F238E27FC236}">
                <a16:creationId xmlns:a16="http://schemas.microsoft.com/office/drawing/2014/main" id="{EA717A20-4479-653B-2389-F9BF94B01F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6E547B-7F98-AE9E-AFF6-764226720024}"/>
              </a:ext>
            </a:extLst>
          </p:cNvPr>
          <p:cNvSpPr>
            <a:spLocks noGrp="1"/>
          </p:cNvSpPr>
          <p:nvPr>
            <p:ph type="sldNum" sz="quarter" idx="12"/>
          </p:nvPr>
        </p:nvSpPr>
        <p:spPr/>
        <p:txBody>
          <a:bodyPr/>
          <a:lstStyle/>
          <a:p>
            <a:fld id="{CBB51F7F-2657-494F-8A1E-6531DC1EC599}" type="slidenum">
              <a:rPr lang="en-IN" smtClean="0"/>
              <a:t>‹#›</a:t>
            </a:fld>
            <a:endParaRPr lang="en-IN"/>
          </a:p>
        </p:txBody>
      </p:sp>
    </p:spTree>
    <p:extLst>
      <p:ext uri="{BB962C8B-B14F-4D97-AF65-F5344CB8AC3E}">
        <p14:creationId xmlns:p14="http://schemas.microsoft.com/office/powerpoint/2010/main" val="717954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371AF3-665C-1F8B-D3CB-32715738BA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A3B482-AF4A-07A1-5012-5D03C1A2EB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1E6B0A-D386-8CD1-9AA2-962F1DF2A7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22858D-E80D-4C94-8B40-3795C51D33B1}" type="datetimeFigureOut">
              <a:rPr lang="en-IN" smtClean="0"/>
              <a:t>11-10-2026</a:t>
            </a:fld>
            <a:endParaRPr lang="en-IN"/>
          </a:p>
        </p:txBody>
      </p:sp>
      <p:sp>
        <p:nvSpPr>
          <p:cNvPr id="5" name="Footer Placeholder 4">
            <a:extLst>
              <a:ext uri="{FF2B5EF4-FFF2-40B4-BE49-F238E27FC236}">
                <a16:creationId xmlns:a16="http://schemas.microsoft.com/office/drawing/2014/main" id="{6E168F56-5208-05E4-755C-82CEACB4F5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63D8D6F-8824-3261-8122-0D5D57C4D8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B51F7F-2657-494F-8A1E-6531DC1EC599}" type="slidenum">
              <a:rPr lang="en-IN" smtClean="0"/>
              <a:t>‹#›</a:t>
            </a:fld>
            <a:endParaRPr lang="en-IN"/>
          </a:p>
        </p:txBody>
      </p:sp>
    </p:spTree>
    <p:extLst>
      <p:ext uri="{BB962C8B-B14F-4D97-AF65-F5344CB8AC3E}">
        <p14:creationId xmlns:p14="http://schemas.microsoft.com/office/powerpoint/2010/main" val="795001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909DA-EB8D-5971-C2EF-08173A446E62}"/>
              </a:ext>
            </a:extLst>
          </p:cNvPr>
          <p:cNvSpPr>
            <a:spLocks noGrp="1"/>
          </p:cNvSpPr>
          <p:nvPr>
            <p:ph type="ctrTitle"/>
          </p:nvPr>
        </p:nvSpPr>
        <p:spPr>
          <a:xfrm>
            <a:off x="104173" y="0"/>
            <a:ext cx="12195858" cy="2387600"/>
          </a:xfrm>
        </p:spPr>
        <p:txBody>
          <a:bodyPr>
            <a:normAutofit/>
          </a:bodyPr>
          <a:lstStyle/>
          <a:p>
            <a:r>
              <a:rPr lang="en-US" sz="4400" b="1" dirty="0"/>
              <a:t>The News &amp; Social Media Analytics Engine</a:t>
            </a:r>
            <a:endParaRPr lang="en-IN" sz="4400" dirty="0"/>
          </a:p>
        </p:txBody>
      </p:sp>
      <p:sp>
        <p:nvSpPr>
          <p:cNvPr id="3" name="Subtitle 2">
            <a:extLst>
              <a:ext uri="{FF2B5EF4-FFF2-40B4-BE49-F238E27FC236}">
                <a16:creationId xmlns:a16="http://schemas.microsoft.com/office/drawing/2014/main" id="{635DBF49-E886-C834-625E-210493600465}"/>
              </a:ext>
            </a:extLst>
          </p:cNvPr>
          <p:cNvSpPr>
            <a:spLocks noGrp="1"/>
          </p:cNvSpPr>
          <p:nvPr>
            <p:ph type="subTitle" idx="1"/>
          </p:nvPr>
        </p:nvSpPr>
        <p:spPr>
          <a:xfrm>
            <a:off x="2340015" y="2559352"/>
            <a:ext cx="6655444" cy="3822098"/>
          </a:xfrm>
        </p:spPr>
        <p:txBody>
          <a:bodyPr>
            <a:normAutofit/>
          </a:bodyPr>
          <a:lstStyle/>
          <a:p>
            <a:r>
              <a:rPr lang="en-US" b="1" dirty="0"/>
              <a:t>Data Structures and Algorithms -3 (25CS2103E) </a:t>
            </a:r>
            <a:endParaRPr lang="en-IN" dirty="0"/>
          </a:p>
          <a:p>
            <a:r>
              <a:rPr lang="en-IN" dirty="0"/>
              <a:t>Team Number: 02         </a:t>
            </a:r>
          </a:p>
          <a:p>
            <a:r>
              <a:rPr lang="en-IN" dirty="0"/>
              <a:t>    Section: 12</a:t>
            </a:r>
          </a:p>
          <a:p>
            <a:r>
              <a:rPr lang="en-US" b="1" dirty="0"/>
              <a:t> </a:t>
            </a:r>
            <a:endParaRPr lang="en-IN" b="1" dirty="0"/>
          </a:p>
          <a:p>
            <a:r>
              <a:rPr lang="en-US" dirty="0"/>
              <a:t>Under the guidance of</a:t>
            </a:r>
            <a:endParaRPr lang="en-IN" dirty="0"/>
          </a:p>
          <a:p>
            <a:r>
              <a:rPr lang="en-US" dirty="0"/>
              <a:t>Ms. K. </a:t>
            </a:r>
            <a:r>
              <a:rPr lang="en-US" dirty="0" err="1"/>
              <a:t>Chandusha</a:t>
            </a:r>
            <a:r>
              <a:rPr lang="en-US" dirty="0"/>
              <a:t> </a:t>
            </a:r>
            <a:endParaRPr lang="en-IN" dirty="0"/>
          </a:p>
          <a:p>
            <a:r>
              <a:rPr lang="en-US" dirty="0"/>
              <a:t>            Assistant Professor, CS&amp;IT </a:t>
            </a:r>
            <a:endParaRPr lang="en-IN" dirty="0"/>
          </a:p>
          <a:p>
            <a:endParaRPr lang="en-IN" dirty="0"/>
          </a:p>
        </p:txBody>
      </p:sp>
      <p:pic>
        <p:nvPicPr>
          <p:cNvPr id="5" name="Picture 4">
            <a:extLst>
              <a:ext uri="{FF2B5EF4-FFF2-40B4-BE49-F238E27FC236}">
                <a16:creationId xmlns:a16="http://schemas.microsoft.com/office/drawing/2014/main" id="{5D19AC4D-D043-BFDD-E83E-91FB37CE57FC}"/>
              </a:ext>
            </a:extLst>
          </p:cNvPr>
          <p:cNvPicPr>
            <a:picLocks noChangeAspect="1"/>
          </p:cNvPicPr>
          <p:nvPr/>
        </p:nvPicPr>
        <p:blipFill>
          <a:blip r:embed="rId2"/>
          <a:stretch>
            <a:fillRect/>
          </a:stretch>
        </p:blipFill>
        <p:spPr>
          <a:xfrm>
            <a:off x="0" y="-104172"/>
            <a:ext cx="1735179" cy="1735179"/>
          </a:xfrm>
          <a:prstGeom prst="rect">
            <a:avLst/>
          </a:prstGeom>
        </p:spPr>
      </p:pic>
      <p:sp>
        <p:nvSpPr>
          <p:cNvPr id="7" name="TextBox 6">
            <a:extLst>
              <a:ext uri="{FF2B5EF4-FFF2-40B4-BE49-F238E27FC236}">
                <a16:creationId xmlns:a16="http://schemas.microsoft.com/office/drawing/2014/main" id="{A64CA26E-087A-73A0-6CF4-06D689D4238B}"/>
              </a:ext>
            </a:extLst>
          </p:cNvPr>
          <p:cNvSpPr txBox="1"/>
          <p:nvPr/>
        </p:nvSpPr>
        <p:spPr>
          <a:xfrm>
            <a:off x="9851985" y="5011341"/>
            <a:ext cx="2682433" cy="1846659"/>
          </a:xfrm>
          <a:prstGeom prst="rect">
            <a:avLst/>
          </a:prstGeom>
          <a:noFill/>
        </p:spPr>
        <p:txBody>
          <a:bodyPr wrap="square">
            <a:spAutoFit/>
          </a:bodyPr>
          <a:lstStyle/>
          <a:p>
            <a:r>
              <a:rPr lang="en-US" dirty="0"/>
              <a:t>Submitted by:  </a:t>
            </a:r>
            <a:endParaRPr lang="en-IN" dirty="0"/>
          </a:p>
          <a:p>
            <a:r>
              <a:rPr lang="en-US" dirty="0"/>
              <a:t>Thota Jhana Sri 2520090121</a:t>
            </a:r>
            <a:endParaRPr lang="en-IN" dirty="0"/>
          </a:p>
          <a:p>
            <a:r>
              <a:rPr lang="en-IN" dirty="0" err="1"/>
              <a:t>Sutte</a:t>
            </a:r>
            <a:r>
              <a:rPr lang="en-IN" dirty="0"/>
              <a:t> Alekhya 2520090126</a:t>
            </a:r>
          </a:p>
          <a:p>
            <a:r>
              <a:rPr lang="en-IN" sz="2400" dirty="0"/>
              <a:t>                          </a:t>
            </a:r>
          </a:p>
        </p:txBody>
      </p:sp>
    </p:spTree>
    <p:extLst>
      <p:ext uri="{BB962C8B-B14F-4D97-AF65-F5344CB8AC3E}">
        <p14:creationId xmlns:p14="http://schemas.microsoft.com/office/powerpoint/2010/main" val="159371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4000" b="1" dirty="0"/>
              <a:t>Introduction</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sp>
        <p:nvSpPr>
          <p:cNvPr id="4" name="Content Placeholder 4"/>
          <p:cNvSpPr>
            <a:spLocks noGrp="1"/>
          </p:cNvSpPr>
          <p:nvPr>
            <p:ph idx="1"/>
          </p:nvPr>
        </p:nvSpPr>
        <p:spPr>
          <a:xfrm>
            <a:off x="1175075" y="1500000"/>
            <a:ext cx="10300000" cy="4900000"/>
          </a:xfrm>
        </p:spPr>
        <p:txBody>
          <a:bodyPr>
            <a:noAutofit/>
          </a:bodyPr>
          <a:lstStyle/>
          <a:p>
            <a:pPr marL="0" indent="0" algn="just">
              <a:spcAft>
                <a:spcPts val="1400"/>
              </a:spcAft>
              <a:buNone/>
            </a:pPr>
            <a:r>
              <a:rPr lang="en-IN" sz="2200" dirty="0"/>
              <a:t>The News &amp; Social Media Analytics Engine is a full-stack web application that analyzes news articles, social media posts and user-provided text in one place. It helps users identify frequent keywords, hashtags, trending topics and sentiment patterns in large volumes of information.</a:t>
            </a:r>
          </a:p>
          <a:p>
            <a:pPr marL="0" indent="0" algn="just">
              <a:spcAft>
                <a:spcPts val="0"/>
              </a:spcAft>
              <a:buNone/>
            </a:pPr>
            <a:r>
              <a:rPr lang="en-IN" sz="2200" dirty="0"/>
              <a:t>The main focus of the project is the practical application of Data Structures and Algorithms to a real-world analytics problem. HashMap-based frequency counting and sorting rank keywords and trends, string-matching algorithms support searching, dynamic programming compares texts, and graph and number-theory algorithms are demonstrated in an Advanced DSA Lab. The system is built with React, Java Spring Boot and MySQL.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3600" b="1" dirty="0"/>
              <a:t>Problem Statement &amp; Objectives</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sp>
        <p:nvSpPr>
          <p:cNvPr id="4" name="Problem card"/>
          <p:cNvSpPr/>
          <p:nvPr/>
        </p:nvSpPr>
        <p:spPr>
          <a:xfrm>
            <a:off x="690000" y="1650000"/>
            <a:ext cx="4500000" cy="4650000"/>
          </a:xfrm>
          <a:prstGeom prst="rect">
            <a:avLst/>
          </a:prstGeom>
          <a:solidFill>
            <a:srgbClr val="F3F3F3"/>
          </a:solidFill>
          <a:ln>
            <a:noFill/>
          </a:ln>
        </p:spPr>
        <p:txBody>
          <a:bodyPr wrap="square" lIns="182880" tIns="137160" rIns="182880" bIns="91440" rtlCol="0" anchor="t">
            <a:noAutofit/>
          </a:bodyPr>
          <a:lstStyle/>
          <a:p>
            <a:pPr marL="0" indent="0" algn="l">
              <a:spcAft>
                <a:spcPts val="1000"/>
              </a:spcAft>
              <a:buNone/>
            </a:pPr>
            <a:r>
              <a:rPr lang="en-IN" sz="2600" b="1" dirty="0"/>
              <a:t>Problem Statement</a:t>
            </a:r>
          </a:p>
          <a:p>
            <a:pPr marL="0" indent="0" algn="just">
              <a:spcAft>
                <a:spcPts val="1000"/>
              </a:spcAft>
              <a:buNone/>
            </a:pPr>
            <a:r>
              <a:rPr lang="en-IN" sz="2000" dirty="0"/>
              <a:t>Users receive a constant flow of news and social media posts from many sources. It is hard to see which topics are trending, what people feel about them, and which information matters.</a:t>
            </a:r>
          </a:p>
          <a:p>
            <a:pPr marL="0" indent="0" algn="just">
              <a:spcAft>
                <a:spcPts val="0"/>
              </a:spcAft>
              <a:buNone/>
            </a:pPr>
            <a:r>
              <a:rPr lang="en-IN" sz="2000" dirty="0"/>
              <a:t>Existing tools usually focus on only one task such as aggregation, keywords or sentiment.</a:t>
            </a:r>
          </a:p>
        </p:txBody>
      </p:sp>
      <p:sp>
        <p:nvSpPr>
          <p:cNvPr id="5" name="Objectives card"/>
          <p:cNvSpPr/>
          <p:nvPr/>
        </p:nvSpPr>
        <p:spPr>
          <a:xfrm>
            <a:off x="5390000" y="1650000"/>
            <a:ext cx="6112000" cy="4650000"/>
          </a:xfrm>
          <a:prstGeom prst="rect">
            <a:avLst/>
          </a:prstGeom>
          <a:solidFill>
            <a:srgbClr val="F3F3F3"/>
          </a:solidFill>
          <a:ln>
            <a:noFill/>
          </a:ln>
        </p:spPr>
        <p:txBody>
          <a:bodyPr wrap="square" lIns="182880" tIns="137160" rIns="182880" bIns="91440" rtlCol="0" anchor="t">
            <a:noAutofit/>
          </a:bodyPr>
          <a:lstStyle/>
          <a:p>
            <a:pPr marL="0" indent="0" algn="l">
              <a:spcAft>
                <a:spcPts val="1000"/>
              </a:spcAft>
              <a:buNone/>
            </a:pPr>
            <a:r>
              <a:rPr lang="en-IN" sz="2600" b="1" dirty="0"/>
              <a:t>Objectives</a:t>
            </a:r>
          </a:p>
          <a:p>
            <a:pPr marL="285750" indent="-285750" algn="just">
              <a:spcAft>
                <a:spcPts val="800"/>
              </a:spcAft>
              <a:buFont typeface="Arial"/>
              <a:buChar char="•"/>
            </a:pPr>
            <a:r>
              <a:rPr lang="en-IN" sz="2000" dirty="0"/>
              <a:t>Analyze news, social posts and custom text in one workspace</a:t>
            </a:r>
          </a:p>
          <a:p>
            <a:pPr marL="285750" indent="-285750" algn="just">
              <a:spcAft>
                <a:spcPts val="800"/>
              </a:spcAft>
              <a:buFont typeface="Arial"/>
              <a:buChar char="•"/>
            </a:pPr>
            <a:r>
              <a:rPr lang="en-IN" sz="2000" dirty="0"/>
              <a:t>Extract keywords, hashtags, trending topics and sentiment</a:t>
            </a:r>
          </a:p>
          <a:p>
            <a:pPr marL="285750" indent="-285750" algn="just">
              <a:spcAft>
                <a:spcPts val="800"/>
              </a:spcAft>
              <a:buFont typeface="Arial"/>
              <a:buChar char="•"/>
            </a:pPr>
            <a:r>
              <a:rPr lang="en-IN" sz="2000" dirty="0"/>
              <a:t>Apply core DSA: hashing, sorting, string matching, dynamic programming and graph algorithms</a:t>
            </a:r>
          </a:p>
          <a:p>
            <a:pPr marL="285750" indent="-285750" algn="just">
              <a:spcAft>
                <a:spcPts val="800"/>
              </a:spcAft>
              <a:buFont typeface="Arial"/>
              <a:buChar char="•"/>
            </a:pPr>
            <a:r>
              <a:rPr lang="en-IN" sz="2000" dirty="0"/>
              <a:t>Provide a secure web app with login, bookmarks, history and reports</a:t>
            </a:r>
          </a:p>
          <a:p>
            <a:pPr marL="285750" indent="-285750" algn="just">
              <a:spcAft>
                <a:spcPts val="0"/>
              </a:spcAft>
              <a:buFont typeface="Arial"/>
              <a:buChar char="•"/>
            </a:pPr>
            <a:r>
              <a:rPr lang="en-IN" sz="2000" dirty="0"/>
              <a:t>Demonstrate algorithms from all six course outcomes in a DSA Lab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BD45-069D-37E8-C108-B377B7615E07}"/>
              </a:ext>
            </a:extLst>
          </p:cNvPr>
          <p:cNvSpPr>
            <a:spLocks noGrp="1"/>
          </p:cNvSpPr>
          <p:nvPr>
            <p:ph type="title"/>
          </p:nvPr>
        </p:nvSpPr>
        <p:spPr>
          <a:xfrm>
            <a:off x="688075" y="0"/>
            <a:ext cx="10515600" cy="1325563"/>
          </a:xfrm>
        </p:spPr>
        <p:txBody>
          <a:bodyPr>
            <a:normAutofit/>
          </a:bodyPr>
          <a:lstStyle/>
          <a:p>
            <a:pPr algn="ctr"/>
            <a:r>
              <a:rPr lang="en-IN" sz="4000" b="1" dirty="0"/>
              <a:t>Literature Survey</a:t>
            </a:r>
          </a:p>
        </p:txBody>
      </p:sp>
      <p:graphicFrame>
        <p:nvGraphicFramePr>
          <p:cNvPr id="9" name="Content Placeholder 8">
            <a:extLst>
              <a:ext uri="{FF2B5EF4-FFF2-40B4-BE49-F238E27FC236}">
                <a16:creationId xmlns:a16="http://schemas.microsoft.com/office/drawing/2014/main" id="{F95C902D-67BE-5002-8E32-744717FE11EB}"/>
              </a:ext>
            </a:extLst>
          </p:cNvPr>
          <p:cNvGraphicFramePr>
            <a:graphicFrameLocks noGrp="1"/>
          </p:cNvGraphicFramePr>
          <p:nvPr>
            <p:ph idx="1"/>
            <p:extLst>
              <p:ext uri="{D42A27DB-BD31-4B8C-83A1-F6EECF244321}">
                <p14:modId xmlns:p14="http://schemas.microsoft.com/office/powerpoint/2010/main" val="2094896973"/>
              </p:ext>
            </p:extLst>
          </p:nvPr>
        </p:nvGraphicFramePr>
        <p:xfrm>
          <a:off x="1817225" y="1080521"/>
          <a:ext cx="9722675" cy="5528625"/>
        </p:xfrm>
        <a:graphic>
          <a:graphicData uri="http://schemas.openxmlformats.org/drawingml/2006/table">
            <a:tbl>
              <a:tblPr/>
              <a:tblGrid>
                <a:gridCol w="851968">
                  <a:extLst>
                    <a:ext uri="{9D8B030D-6E8A-4147-A177-3AD203B41FA5}">
                      <a16:colId xmlns:a16="http://schemas.microsoft.com/office/drawing/2014/main" val="3057714953"/>
                    </a:ext>
                  </a:extLst>
                </a:gridCol>
                <a:gridCol w="2756899">
                  <a:extLst>
                    <a:ext uri="{9D8B030D-6E8A-4147-A177-3AD203B41FA5}">
                      <a16:colId xmlns:a16="http://schemas.microsoft.com/office/drawing/2014/main" val="2173866943"/>
                    </a:ext>
                  </a:extLst>
                </a:gridCol>
                <a:gridCol w="3056904">
                  <a:extLst>
                    <a:ext uri="{9D8B030D-6E8A-4147-A177-3AD203B41FA5}">
                      <a16:colId xmlns:a16="http://schemas.microsoft.com/office/drawing/2014/main" val="1257143231"/>
                    </a:ext>
                  </a:extLst>
                </a:gridCol>
                <a:gridCol w="3056904">
                  <a:extLst>
                    <a:ext uri="{9D8B030D-6E8A-4147-A177-3AD203B41FA5}">
                      <a16:colId xmlns:a16="http://schemas.microsoft.com/office/drawing/2014/main" val="499160808"/>
                    </a:ext>
                  </a:extLst>
                </a:gridCol>
              </a:tblGrid>
              <a:tr h="373985">
                <a:tc>
                  <a:txBody>
                    <a:bodyPr/>
                    <a:lstStyle/>
                    <a:p>
                      <a:pPr>
                        <a:buNone/>
                      </a:pPr>
                      <a:r>
                        <a:rPr lang="en-IN"/>
                        <a:t>S.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Existing Approach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Technology /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1091043"/>
                  </a:ext>
                </a:extLst>
              </a:tr>
              <a:tr h="670900">
                <a:tc>
                  <a:txBody>
                    <a:bodyPr/>
                    <a:lstStyle/>
                    <a:p>
                      <a:pP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News Aggregation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Web APIs, Web Scraping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Mainly collect and display news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1649973"/>
                  </a:ext>
                </a:extLst>
              </a:tr>
              <a:tr h="670900">
                <a:tc>
                  <a:txBody>
                    <a:bodyPr/>
                    <a:lstStyle/>
                    <a:p>
                      <a:pPr>
                        <a:buNone/>
                      </a:pPr>
                      <a:r>
                        <a:rPr lang="en-IN"/>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Keyword Analysis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Hashing, Frequency Counting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Limited trend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1214535"/>
                  </a:ext>
                </a:extLst>
              </a:tr>
              <a:tr h="670900">
                <a:tc>
                  <a:txBody>
                    <a:bodyPr/>
                    <a:lstStyle/>
                    <a:p>
                      <a:pP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Sentiment Analysis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Text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Often focus only on sentiment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4964394"/>
                  </a:ext>
                </a:extLst>
              </a:tr>
              <a:tr h="967815">
                <a:tc>
                  <a:txBody>
                    <a:bodyPr/>
                    <a:lstStyle/>
                    <a:p>
                      <a:pPr>
                        <a:buNone/>
                      </a:pPr>
                      <a:r>
                        <a:rPr lang="en-IN"/>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Trending Topic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Sorting, Ranking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May not combine multiple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8369469"/>
                  </a:ext>
                </a:extLst>
              </a:tr>
              <a:tr h="670900">
                <a:tc>
                  <a:txBody>
                    <a:bodyPr/>
                    <a:lstStyle/>
                    <a:p>
                      <a:pPr>
                        <a:buNone/>
                      </a:pPr>
                      <a:r>
                        <a:rPr lang="en-IN"/>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Social Media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Hashtag &amp; Keyword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Can be difficult to process large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8620197"/>
                  </a:ext>
                </a:extLst>
              </a:tr>
              <a:tr h="1503225">
                <a:tc>
                  <a:txBody>
                    <a:bodyPr/>
                    <a:lstStyle/>
                    <a:p>
                      <a:pPr>
                        <a:buNone/>
                      </a:pPr>
                      <a:r>
                        <a:rPr lang="en-IN"/>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Proposed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Java + React + MySQL + DSA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0" dirty="0"/>
                        <a:t>Combines keyword, hashtag, sentiment and trend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3672235"/>
                  </a:ext>
                </a:extLst>
              </a:tr>
            </a:tbl>
          </a:graphicData>
        </a:graphic>
      </p:graphicFrame>
      <p:pic>
        <p:nvPicPr>
          <p:cNvPr id="4" name="Picture 3">
            <a:extLst>
              <a:ext uri="{FF2B5EF4-FFF2-40B4-BE49-F238E27FC236}">
                <a16:creationId xmlns:a16="http://schemas.microsoft.com/office/drawing/2014/main" id="{E43E9E77-AB66-B775-A519-1248ECC7B4AD}"/>
              </a:ext>
            </a:extLst>
          </p:cNvPr>
          <p:cNvPicPr>
            <a:picLocks noChangeAspect="1"/>
          </p:cNvPicPr>
          <p:nvPr/>
        </p:nvPicPr>
        <p:blipFill>
          <a:blip r:embed="rId2"/>
          <a:stretch>
            <a:fillRect/>
          </a:stretch>
        </p:blipFill>
        <p:spPr>
          <a:xfrm>
            <a:off x="151496" y="50801"/>
            <a:ext cx="1546506" cy="1546506"/>
          </a:xfrm>
          <a:prstGeom prst="rect">
            <a:avLst/>
          </a:prstGeom>
        </p:spPr>
      </p:pic>
    </p:spTree>
    <p:extLst>
      <p:ext uri="{BB962C8B-B14F-4D97-AF65-F5344CB8AC3E}">
        <p14:creationId xmlns:p14="http://schemas.microsoft.com/office/powerpoint/2010/main" val="3657849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4000" b="1" dirty="0"/>
              <a:t>System Architecture</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pic>
        <p:nvPicPr>
          <p:cNvPr id="23" name="Picture 22">
            <a:extLst>
              <a:ext uri="{FF2B5EF4-FFF2-40B4-BE49-F238E27FC236}">
                <a16:creationId xmlns:a16="http://schemas.microsoft.com/office/drawing/2014/main" id="{E00EFE7B-B751-90FD-B79E-79E282BED60F}"/>
              </a:ext>
            </a:extLst>
          </p:cNvPr>
          <p:cNvPicPr>
            <a:picLocks noChangeAspect="1"/>
          </p:cNvPicPr>
          <p:nvPr/>
        </p:nvPicPr>
        <p:blipFill>
          <a:blip r:embed="rId3"/>
          <a:stretch>
            <a:fillRect/>
          </a:stretch>
        </p:blipFill>
        <p:spPr>
          <a:xfrm>
            <a:off x="6543" y="80616"/>
            <a:ext cx="11105405" cy="67773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4000" b="1" dirty="0"/>
              <a:t>Software Requirements</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graphicFrame>
        <p:nvGraphicFramePr>
          <p:cNvPr id="4" name="Table 4"/>
          <p:cNvGraphicFramePr>
            <a:graphicFrameLocks noGrp="1"/>
          </p:cNvGraphicFramePr>
          <p:nvPr/>
        </p:nvGraphicFramePr>
        <p:xfrm>
          <a:off x="1900000" y="1550000"/>
          <a:ext cx="8400000" cy="4860000"/>
        </p:xfrm>
        <a:graphic>
          <a:graphicData uri="http://schemas.openxmlformats.org/drawingml/2006/table">
            <a:tbl>
              <a:tblPr/>
              <a:tblGrid>
                <a:gridCol w="3900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tblGrid>
              <a:tr h="540000">
                <a:tc>
                  <a:txBody>
                    <a:bodyPr/>
                    <a:lstStyle/>
                    <a:p>
                      <a:pPr>
                        <a:buNone/>
                      </a:pPr>
                      <a:r>
                        <a:rPr lang="en-IN" sz="2000" b="1" dirty="0"/>
                        <a:t>Software</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solidFill>
                      <a:srgbClr val="D9D9D9"/>
                    </a:solidFill>
                  </a:tcPr>
                </a:tc>
                <a:tc>
                  <a:txBody>
                    <a:bodyPr/>
                    <a:lstStyle/>
                    <a:p>
                      <a:pPr>
                        <a:buNone/>
                      </a:pPr>
                      <a:r>
                        <a:rPr lang="en-IN" sz="2000" b="1" dirty="0"/>
                        <a:t>Purpose</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solidFill>
                      <a:srgbClr val="D9D9D9"/>
                    </a:solidFill>
                  </a:tcPr>
                </a:tc>
                <a:extLst>
                  <a:ext uri="{0D108BD9-81ED-4DB2-BD59-A6C34878D82A}">
                    <a16:rowId xmlns:a16="http://schemas.microsoft.com/office/drawing/2014/main" val="10000"/>
                  </a:ext>
                </a:extLst>
              </a:tr>
              <a:tr h="540000">
                <a:tc>
                  <a:txBody>
                    <a:bodyPr/>
                    <a:lstStyle/>
                    <a:p>
                      <a:pPr>
                        <a:buNone/>
                      </a:pPr>
                      <a:r>
                        <a:rPr lang="en-IN" sz="1800" b="0" dirty="0"/>
                        <a:t>Java 21 + Spring Boot 3</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Backend REST API and business logic</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1"/>
                  </a:ext>
                </a:extLst>
              </a:tr>
              <a:tr h="540000">
                <a:tc>
                  <a:txBody>
                    <a:bodyPr/>
                    <a:lstStyle/>
                    <a:p>
                      <a:pPr>
                        <a:buNone/>
                      </a:pPr>
                      <a:r>
                        <a:rPr lang="en-IN" sz="1800" b="0" dirty="0"/>
                        <a:t>React 18 + Vite</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Frontend user interface</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2"/>
                  </a:ext>
                </a:extLst>
              </a:tr>
              <a:tr h="540000">
                <a:tc>
                  <a:txBody>
                    <a:bodyPr/>
                    <a:lstStyle/>
                    <a:p>
                      <a:pPr>
                        <a:buNone/>
                      </a:pPr>
                      <a:r>
                        <a:rPr lang="en-IN" sz="1800" b="0" dirty="0"/>
                        <a:t>MySQL 8</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Relational database</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3"/>
                  </a:ext>
                </a:extLst>
              </a:tr>
              <a:tr h="540000">
                <a:tc>
                  <a:txBody>
                    <a:bodyPr/>
                    <a:lstStyle/>
                    <a:p>
                      <a:pPr>
                        <a:buNone/>
                      </a:pPr>
                      <a:r>
                        <a:rPr lang="en-IN" sz="1800" b="0" dirty="0"/>
                        <a:t>Spring Security (BCrypt)</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Authentication and role-based access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4"/>
                  </a:ext>
                </a:extLst>
              </a:tr>
              <a:tr h="540000">
                <a:tc>
                  <a:txBody>
                    <a:bodyPr/>
                    <a:lstStyle/>
                    <a:p>
                      <a:pPr>
                        <a:buNone/>
                      </a:pPr>
                      <a:r>
                        <a:rPr lang="en-IN" sz="1800" b="0" dirty="0"/>
                        <a:t>Maven 3.9+ / Node.js 20+</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Build and dependency management</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5"/>
                  </a:ext>
                </a:extLst>
              </a:tr>
              <a:tr h="540000">
                <a:tc>
                  <a:txBody>
                    <a:bodyPr/>
                    <a:lstStyle/>
                    <a:p>
                      <a:pPr>
                        <a:buNone/>
                      </a:pPr>
                      <a:r>
                        <a:rPr lang="en-IN" sz="1800" b="0" dirty="0"/>
                        <a:t>Recharts, Axios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Charts and API communication</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6"/>
                  </a:ext>
                </a:extLst>
              </a:tr>
              <a:tr h="540000">
                <a:tc>
                  <a:txBody>
                    <a:bodyPr/>
                    <a:lstStyle/>
                    <a:p>
                      <a:pPr>
                        <a:buNone/>
                      </a:pPr>
                      <a:r>
                        <a:rPr lang="en-IN" sz="1800" b="0" dirty="0"/>
                        <a:t>IntelliJ IDEA / VS Code</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Development environment</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7"/>
                  </a:ext>
                </a:extLst>
              </a:tr>
              <a:tr h="540000">
                <a:tc>
                  <a:txBody>
                    <a:bodyPr/>
                    <a:lstStyle/>
                    <a:p>
                      <a:pPr>
                        <a:buNone/>
                      </a:pPr>
                      <a:r>
                        <a:rPr lang="en-IN" sz="1800" b="0" dirty="0"/>
                        <a:t>Git / GitHub</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Version control and code management</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2A518-E7BB-FB2E-F0F9-D95C23D15CA6}"/>
              </a:ext>
            </a:extLst>
          </p:cNvPr>
          <p:cNvSpPr>
            <a:spLocks noGrp="1"/>
          </p:cNvSpPr>
          <p:nvPr>
            <p:ph type="title"/>
          </p:nvPr>
        </p:nvSpPr>
        <p:spPr/>
        <p:txBody>
          <a:bodyPr>
            <a:normAutofit/>
          </a:bodyPr>
          <a:lstStyle/>
          <a:p>
            <a:pPr algn="ctr"/>
            <a:r>
              <a:rPr lang="en-IN" sz="4000" b="1" dirty="0"/>
              <a:t>Hardware Requirements</a:t>
            </a:r>
          </a:p>
        </p:txBody>
      </p:sp>
      <p:graphicFrame>
        <p:nvGraphicFramePr>
          <p:cNvPr id="4" name="Content Placeholder 3">
            <a:extLst>
              <a:ext uri="{FF2B5EF4-FFF2-40B4-BE49-F238E27FC236}">
                <a16:creationId xmlns:a16="http://schemas.microsoft.com/office/drawing/2014/main" id="{DD818198-3D7C-B6F1-5FB4-BF9E67603DCD}"/>
              </a:ext>
            </a:extLst>
          </p:cNvPr>
          <p:cNvGraphicFramePr>
            <a:graphicFrameLocks noGrp="1"/>
          </p:cNvGraphicFramePr>
          <p:nvPr>
            <p:ph idx="1"/>
            <p:extLst>
              <p:ext uri="{D42A27DB-BD31-4B8C-83A1-F6EECF244321}">
                <p14:modId xmlns:p14="http://schemas.microsoft.com/office/powerpoint/2010/main" val="1995655464"/>
              </p:ext>
            </p:extLst>
          </p:nvPr>
        </p:nvGraphicFramePr>
        <p:xfrm>
          <a:off x="2538398" y="1690688"/>
          <a:ext cx="7690513" cy="3807255"/>
        </p:xfrm>
        <a:graphic>
          <a:graphicData uri="http://schemas.openxmlformats.org/drawingml/2006/table">
            <a:tbl>
              <a:tblPr/>
              <a:tblGrid>
                <a:gridCol w="3364775">
                  <a:extLst>
                    <a:ext uri="{9D8B030D-6E8A-4147-A177-3AD203B41FA5}">
                      <a16:colId xmlns:a16="http://schemas.microsoft.com/office/drawing/2014/main" val="401701923"/>
                    </a:ext>
                  </a:extLst>
                </a:gridCol>
                <a:gridCol w="4325738">
                  <a:extLst>
                    <a:ext uri="{9D8B030D-6E8A-4147-A177-3AD203B41FA5}">
                      <a16:colId xmlns:a16="http://schemas.microsoft.com/office/drawing/2014/main" val="3207574371"/>
                    </a:ext>
                  </a:extLst>
                </a:gridCol>
              </a:tblGrid>
              <a:tr h="629005">
                <a:tc>
                  <a:txBody>
                    <a:bodyPr/>
                    <a:lstStyle/>
                    <a:p>
                      <a:pPr>
                        <a:buNone/>
                      </a:pPr>
                      <a:r>
                        <a:rPr lang="en-IN" sz="2000" b="1" dirty="0"/>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t>Requirement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5210951"/>
                  </a:ext>
                </a:extLst>
              </a:tr>
              <a:tr h="629005">
                <a:tc>
                  <a:txBody>
                    <a:bodyPr/>
                    <a:lstStyle/>
                    <a:p>
                      <a:pPr>
                        <a:buNone/>
                      </a:pPr>
                      <a:r>
                        <a:rPr lang="en-IN" b="0" dirty="0"/>
                        <a:t>Processor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Intel Core i3 or above – runs the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4420092"/>
                  </a:ext>
                </a:extLst>
              </a:tr>
              <a:tr h="629005">
                <a:tc>
                  <a:txBody>
                    <a:bodyPr/>
                    <a:lstStyle/>
                    <a:p>
                      <a:pPr>
                        <a:buNone/>
                      </a:pPr>
                      <a:r>
                        <a:rPr lang="en-IN" b="0"/>
                        <a:t>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4 GB minimum – supports program execution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7967671"/>
                  </a:ext>
                </a:extLst>
              </a:tr>
              <a:tr h="629005">
                <a:tc>
                  <a:txBody>
                    <a:bodyPr/>
                    <a:lstStyle/>
                    <a:p>
                      <a:pPr>
                        <a:buNone/>
                      </a:pPr>
                      <a:r>
                        <a:rPr lang="en-IN" b="0" dirty="0"/>
                        <a:t>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 GB free space – stores project files and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5825906"/>
                  </a:ext>
                </a:extLst>
              </a:tr>
              <a:tr h="629005">
                <a:tc>
                  <a:txBody>
                    <a:bodyPr/>
                    <a:lstStyle/>
                    <a:p>
                      <a:pPr>
                        <a:buNone/>
                      </a:pPr>
                      <a:r>
                        <a:rPr lang="en-IN" b="0"/>
                        <a:t>Monitor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14" or above – displays the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014244"/>
                  </a:ext>
                </a:extLst>
              </a:tr>
              <a:tr h="629005">
                <a:tc>
                  <a:txBody>
                    <a:bodyPr/>
                    <a:lstStyle/>
                    <a:p>
                      <a:pPr>
                        <a:buNone/>
                      </a:pPr>
                      <a:r>
                        <a:rPr lang="en-IN" b="0" dirty="0"/>
                        <a:t>Keyboard &amp; Mouse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Standard – user interaction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6384748"/>
                  </a:ext>
                </a:extLst>
              </a:tr>
            </a:tbl>
          </a:graphicData>
        </a:graphic>
      </p:graphicFrame>
      <p:pic>
        <p:nvPicPr>
          <p:cNvPr id="5" name="Picture 4">
            <a:extLst>
              <a:ext uri="{FF2B5EF4-FFF2-40B4-BE49-F238E27FC236}">
                <a16:creationId xmlns:a16="http://schemas.microsoft.com/office/drawing/2014/main" id="{9CA4DC6B-AB06-F81B-C456-95BE35C77D8E}"/>
              </a:ext>
            </a:extLst>
          </p:cNvPr>
          <p:cNvPicPr>
            <a:picLocks noChangeAspect="1"/>
          </p:cNvPicPr>
          <p:nvPr/>
        </p:nvPicPr>
        <p:blipFill>
          <a:blip r:embed="rId2"/>
          <a:stretch>
            <a:fillRect/>
          </a:stretch>
        </p:blipFill>
        <p:spPr>
          <a:xfrm>
            <a:off x="6544" y="0"/>
            <a:ext cx="1526833" cy="1526833"/>
          </a:xfrm>
          <a:prstGeom prst="rect">
            <a:avLst/>
          </a:prstGeom>
        </p:spPr>
      </p:pic>
    </p:spTree>
    <p:extLst>
      <p:ext uri="{BB962C8B-B14F-4D97-AF65-F5344CB8AC3E}">
        <p14:creationId xmlns:p14="http://schemas.microsoft.com/office/powerpoint/2010/main" val="3184689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99378-C4C8-196D-BB80-2EF341212795}"/>
              </a:ext>
            </a:extLst>
          </p:cNvPr>
          <p:cNvSpPr>
            <a:spLocks noGrp="1"/>
          </p:cNvSpPr>
          <p:nvPr>
            <p:ph type="title"/>
          </p:nvPr>
        </p:nvSpPr>
        <p:spPr>
          <a:xfrm>
            <a:off x="-3315642" y="2766218"/>
            <a:ext cx="10515600" cy="1325563"/>
          </a:xfrm>
        </p:spPr>
        <p:txBody>
          <a:bodyPr>
            <a:normAutofit/>
          </a:bodyPr>
          <a:lstStyle/>
          <a:p>
            <a:pPr algn="ctr"/>
            <a:r>
              <a:rPr lang="en-IN" sz="4000" b="1" dirty="0"/>
              <a:t>Methodology</a:t>
            </a:r>
          </a:p>
        </p:txBody>
      </p:sp>
      <p:pic>
        <p:nvPicPr>
          <p:cNvPr id="7" name="Content Placeholder 6">
            <a:extLst>
              <a:ext uri="{FF2B5EF4-FFF2-40B4-BE49-F238E27FC236}">
                <a16:creationId xmlns:a16="http://schemas.microsoft.com/office/drawing/2014/main" id="{54208A0F-4D6A-B361-62D6-D4143886CF6E}"/>
              </a:ext>
            </a:extLst>
          </p:cNvPr>
          <p:cNvPicPr>
            <a:picLocks noGrp="1" noChangeAspect="1"/>
          </p:cNvPicPr>
          <p:nvPr>
            <p:ph idx="1"/>
          </p:nvPr>
        </p:nvPicPr>
        <p:blipFill>
          <a:blip r:embed="rId2"/>
          <a:stretch>
            <a:fillRect/>
          </a:stretch>
        </p:blipFill>
        <p:spPr>
          <a:xfrm>
            <a:off x="5019458" y="144683"/>
            <a:ext cx="5628178" cy="6568633"/>
          </a:xfrm>
          <a:prstGeom prst="rect">
            <a:avLst/>
          </a:prstGeom>
        </p:spPr>
      </p:pic>
      <p:pic>
        <p:nvPicPr>
          <p:cNvPr id="5" name="Picture 4">
            <a:extLst>
              <a:ext uri="{FF2B5EF4-FFF2-40B4-BE49-F238E27FC236}">
                <a16:creationId xmlns:a16="http://schemas.microsoft.com/office/drawing/2014/main" id="{3AEC96C8-6199-EDA1-B417-D186D8EE1DFC}"/>
              </a:ext>
            </a:extLst>
          </p:cNvPr>
          <p:cNvPicPr>
            <a:picLocks noChangeAspect="1"/>
          </p:cNvPicPr>
          <p:nvPr/>
        </p:nvPicPr>
        <p:blipFill>
          <a:blip r:embed="rId3"/>
          <a:stretch>
            <a:fillRect/>
          </a:stretch>
        </p:blipFill>
        <p:spPr>
          <a:xfrm>
            <a:off x="6544" y="0"/>
            <a:ext cx="1526833" cy="1526833"/>
          </a:xfrm>
          <a:prstGeom prst="rect">
            <a:avLst/>
          </a:prstGeom>
        </p:spPr>
      </p:pic>
    </p:spTree>
    <p:extLst>
      <p:ext uri="{BB962C8B-B14F-4D97-AF65-F5344CB8AC3E}">
        <p14:creationId xmlns:p14="http://schemas.microsoft.com/office/powerpoint/2010/main" val="2157276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4000" b="1" dirty="0"/>
              <a:t>Key Features</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sp>
        <p:nvSpPr>
          <p:cNvPr id="4" name="Card 1"/>
          <p:cNvSpPr/>
          <p:nvPr/>
        </p:nvSpPr>
        <p:spPr>
          <a:xfrm>
            <a:off x="690000" y="1650000"/>
            <a:ext cx="3400000" cy="2200000"/>
          </a:xfrm>
          <a:prstGeom prst="rect">
            <a:avLst/>
          </a:prstGeom>
          <a:solidFill>
            <a:srgbClr val="F3F3F3"/>
          </a:solidFill>
          <a:ln>
            <a:noFill/>
          </a:ln>
        </p:spPr>
        <p:txBody>
          <a:bodyPr wrap="square" lIns="91440" tIns="45720" rIns="91440" bIns="45720" rtlCol="0" anchor="t">
            <a:noAutofit/>
          </a:bodyPr>
          <a:lstStyle/>
          <a:p>
            <a:pPr algn="just"/>
            <a:endParaRPr lang="en-IN"/>
          </a:p>
        </p:txBody>
      </p:sp>
      <p:sp>
        <p:nvSpPr>
          <p:cNvPr id="5" name="Badge 1"/>
          <p:cNvSpPr/>
          <p:nvPr/>
        </p:nvSpPr>
        <p:spPr>
          <a:xfrm>
            <a:off x="840000" y="1800000"/>
            <a:ext cx="480000" cy="480000"/>
          </a:xfrm>
          <a:prstGeom prst="ellipse">
            <a:avLst/>
          </a:prstGeom>
          <a:solidFill>
            <a:srgbClr val="C8102E"/>
          </a:solidFill>
          <a:ln>
            <a:noFill/>
          </a:ln>
        </p:spPr>
        <p:txBody>
          <a:bodyPr wrap="square" lIns="0" tIns="0" rIns="0" bIns="0" rtlCol="0" anchor="ctr">
            <a:noAutofit/>
          </a:bodyPr>
          <a:lstStyle/>
          <a:p>
            <a:pPr marL="0" indent="0" algn="just">
              <a:spcAft>
                <a:spcPts val="0"/>
              </a:spcAft>
              <a:buNone/>
            </a:pPr>
            <a:r>
              <a:rPr lang="en-IN" sz="1800" b="1" dirty="0">
                <a:solidFill>
                  <a:srgbClr val="FFFFFF"/>
                </a:solidFill>
              </a:rPr>
              <a:t>1</a:t>
            </a:r>
          </a:p>
        </p:txBody>
      </p:sp>
      <p:sp>
        <p:nvSpPr>
          <p:cNvPr id="6" name="Card title 1"/>
          <p:cNvSpPr txBox="1"/>
          <p:nvPr/>
        </p:nvSpPr>
        <p:spPr>
          <a:xfrm>
            <a:off x="1410000" y="1740000"/>
            <a:ext cx="2620000" cy="600000"/>
          </a:xfrm>
          <a:prstGeom prst="rect">
            <a:avLst/>
          </a:prstGeom>
          <a:noFill/>
          <a:ln>
            <a:noFill/>
          </a:ln>
        </p:spPr>
        <p:txBody>
          <a:bodyPr wrap="square" lIns="45720" tIns="0" rIns="0" bIns="0" rtlCol="0" anchor="ctr">
            <a:noAutofit/>
          </a:bodyPr>
          <a:lstStyle/>
          <a:p>
            <a:pPr marL="0" indent="0" algn="just">
              <a:spcAft>
                <a:spcPts val="0"/>
              </a:spcAft>
              <a:buNone/>
            </a:pPr>
            <a:r>
              <a:rPr lang="en-IN" sz="2000" b="1" dirty="0"/>
              <a:t>Secure Access</a:t>
            </a:r>
          </a:p>
        </p:txBody>
      </p:sp>
      <p:sp>
        <p:nvSpPr>
          <p:cNvPr id="7" name="Card text 1"/>
          <p:cNvSpPr txBox="1"/>
          <p:nvPr/>
        </p:nvSpPr>
        <p:spPr>
          <a:xfrm>
            <a:off x="840000" y="2450000"/>
            <a:ext cx="3100000" cy="1350000"/>
          </a:xfrm>
          <a:prstGeom prst="rect">
            <a:avLst/>
          </a:prstGeom>
          <a:noFill/>
          <a:ln>
            <a:noFill/>
          </a:ln>
        </p:spPr>
        <p:txBody>
          <a:bodyPr wrap="square" lIns="0" tIns="0" rIns="0" bIns="0" rtlCol="0" anchor="t">
            <a:noAutofit/>
          </a:bodyPr>
          <a:lstStyle/>
          <a:p>
            <a:pPr marL="0" indent="0" algn="just">
              <a:spcAft>
                <a:spcPts val="0"/>
              </a:spcAft>
              <a:buNone/>
            </a:pPr>
            <a:r>
              <a:rPr lang="en-IN" sz="1800" dirty="0"/>
              <a:t>Registration and login with BCrypt-hashed passwords and role-based admin access.</a:t>
            </a:r>
          </a:p>
        </p:txBody>
      </p:sp>
      <p:sp>
        <p:nvSpPr>
          <p:cNvPr id="8" name="Card 2"/>
          <p:cNvSpPr/>
          <p:nvPr/>
        </p:nvSpPr>
        <p:spPr>
          <a:xfrm>
            <a:off x="4396000" y="1650000"/>
            <a:ext cx="3400000" cy="2200000"/>
          </a:xfrm>
          <a:prstGeom prst="rect">
            <a:avLst/>
          </a:prstGeom>
          <a:solidFill>
            <a:srgbClr val="F3F3F3"/>
          </a:solidFill>
          <a:ln>
            <a:noFill/>
          </a:ln>
        </p:spPr>
        <p:txBody>
          <a:bodyPr wrap="square" lIns="91440" tIns="45720" rIns="91440" bIns="45720" rtlCol="0" anchor="t">
            <a:noAutofit/>
          </a:bodyPr>
          <a:lstStyle/>
          <a:p>
            <a:pPr algn="just"/>
            <a:endParaRPr lang="en-IN"/>
          </a:p>
        </p:txBody>
      </p:sp>
      <p:sp>
        <p:nvSpPr>
          <p:cNvPr id="9" name="Badge 2"/>
          <p:cNvSpPr/>
          <p:nvPr/>
        </p:nvSpPr>
        <p:spPr>
          <a:xfrm>
            <a:off x="4546000" y="1800000"/>
            <a:ext cx="480000" cy="480000"/>
          </a:xfrm>
          <a:prstGeom prst="ellipse">
            <a:avLst/>
          </a:prstGeom>
          <a:solidFill>
            <a:srgbClr val="C8102E"/>
          </a:solidFill>
          <a:ln>
            <a:noFill/>
          </a:ln>
        </p:spPr>
        <p:txBody>
          <a:bodyPr wrap="square" lIns="0" tIns="0" rIns="0" bIns="0" rtlCol="0" anchor="ctr">
            <a:noAutofit/>
          </a:bodyPr>
          <a:lstStyle/>
          <a:p>
            <a:pPr marL="0" indent="0" algn="just">
              <a:spcAft>
                <a:spcPts val="0"/>
              </a:spcAft>
              <a:buNone/>
            </a:pPr>
            <a:r>
              <a:rPr lang="en-IN" sz="1800" b="1" dirty="0">
                <a:solidFill>
                  <a:srgbClr val="FFFFFF"/>
                </a:solidFill>
              </a:rPr>
              <a:t>2</a:t>
            </a:r>
          </a:p>
        </p:txBody>
      </p:sp>
      <p:sp>
        <p:nvSpPr>
          <p:cNvPr id="10" name="Card title 2"/>
          <p:cNvSpPr txBox="1"/>
          <p:nvPr/>
        </p:nvSpPr>
        <p:spPr>
          <a:xfrm>
            <a:off x="5116000" y="1740000"/>
            <a:ext cx="2620000" cy="600000"/>
          </a:xfrm>
          <a:prstGeom prst="rect">
            <a:avLst/>
          </a:prstGeom>
          <a:noFill/>
          <a:ln>
            <a:noFill/>
          </a:ln>
        </p:spPr>
        <p:txBody>
          <a:bodyPr wrap="square" lIns="45720" tIns="0" rIns="0" bIns="0" rtlCol="0" anchor="ctr">
            <a:noAutofit/>
          </a:bodyPr>
          <a:lstStyle/>
          <a:p>
            <a:pPr marL="0" indent="0" algn="just">
              <a:spcAft>
                <a:spcPts val="0"/>
              </a:spcAft>
              <a:buNone/>
            </a:pPr>
            <a:r>
              <a:rPr lang="en-IN" sz="2000" b="1" dirty="0"/>
              <a:t>News &amp; Social Analytics</a:t>
            </a:r>
          </a:p>
        </p:txBody>
      </p:sp>
      <p:sp>
        <p:nvSpPr>
          <p:cNvPr id="11" name="Card text 2"/>
          <p:cNvSpPr txBox="1"/>
          <p:nvPr/>
        </p:nvSpPr>
        <p:spPr>
          <a:xfrm>
            <a:off x="4546000" y="2450000"/>
            <a:ext cx="3100000" cy="1350000"/>
          </a:xfrm>
          <a:prstGeom prst="rect">
            <a:avLst/>
          </a:prstGeom>
          <a:noFill/>
          <a:ln>
            <a:noFill/>
          </a:ln>
        </p:spPr>
        <p:txBody>
          <a:bodyPr wrap="square" lIns="0" tIns="0" rIns="0" bIns="0" rtlCol="0" anchor="t">
            <a:noAutofit/>
          </a:bodyPr>
          <a:lstStyle/>
          <a:p>
            <a:pPr marL="0" indent="0" algn="just">
              <a:spcAft>
                <a:spcPts val="0"/>
              </a:spcAft>
              <a:buNone/>
            </a:pPr>
            <a:r>
              <a:rPr lang="en-IN" sz="1800" dirty="0"/>
              <a:t>News explorer, social post summary and trending topics from stored data.</a:t>
            </a:r>
          </a:p>
        </p:txBody>
      </p:sp>
      <p:sp>
        <p:nvSpPr>
          <p:cNvPr id="12" name="Card 3"/>
          <p:cNvSpPr/>
          <p:nvPr/>
        </p:nvSpPr>
        <p:spPr>
          <a:xfrm>
            <a:off x="8102000" y="1650000"/>
            <a:ext cx="3400000" cy="2200000"/>
          </a:xfrm>
          <a:prstGeom prst="rect">
            <a:avLst/>
          </a:prstGeom>
          <a:solidFill>
            <a:srgbClr val="F3F3F3"/>
          </a:solidFill>
          <a:ln>
            <a:noFill/>
          </a:ln>
        </p:spPr>
        <p:txBody>
          <a:bodyPr wrap="square" lIns="91440" tIns="45720" rIns="91440" bIns="45720" rtlCol="0" anchor="t">
            <a:noAutofit/>
          </a:bodyPr>
          <a:lstStyle/>
          <a:p>
            <a:pPr algn="just"/>
            <a:endParaRPr lang="en-IN"/>
          </a:p>
        </p:txBody>
      </p:sp>
      <p:sp>
        <p:nvSpPr>
          <p:cNvPr id="13" name="Badge 3"/>
          <p:cNvSpPr/>
          <p:nvPr/>
        </p:nvSpPr>
        <p:spPr>
          <a:xfrm>
            <a:off x="8252000" y="1800000"/>
            <a:ext cx="480000" cy="480000"/>
          </a:xfrm>
          <a:prstGeom prst="ellipse">
            <a:avLst/>
          </a:prstGeom>
          <a:solidFill>
            <a:srgbClr val="C8102E"/>
          </a:solidFill>
          <a:ln>
            <a:noFill/>
          </a:ln>
        </p:spPr>
        <p:txBody>
          <a:bodyPr wrap="square" lIns="0" tIns="0" rIns="0" bIns="0" rtlCol="0" anchor="ctr">
            <a:noAutofit/>
          </a:bodyPr>
          <a:lstStyle/>
          <a:p>
            <a:pPr marL="0" indent="0" algn="just">
              <a:spcAft>
                <a:spcPts val="0"/>
              </a:spcAft>
              <a:buNone/>
            </a:pPr>
            <a:r>
              <a:rPr lang="en-IN" sz="1800" b="1" dirty="0">
                <a:solidFill>
                  <a:srgbClr val="FFFFFF"/>
                </a:solidFill>
              </a:rPr>
              <a:t>3</a:t>
            </a:r>
          </a:p>
        </p:txBody>
      </p:sp>
      <p:sp>
        <p:nvSpPr>
          <p:cNvPr id="14" name="Card title 3"/>
          <p:cNvSpPr txBox="1"/>
          <p:nvPr/>
        </p:nvSpPr>
        <p:spPr>
          <a:xfrm>
            <a:off x="8822000" y="1740000"/>
            <a:ext cx="2620000" cy="600000"/>
          </a:xfrm>
          <a:prstGeom prst="rect">
            <a:avLst/>
          </a:prstGeom>
          <a:noFill/>
          <a:ln>
            <a:noFill/>
          </a:ln>
        </p:spPr>
        <p:txBody>
          <a:bodyPr wrap="square" lIns="45720" tIns="0" rIns="0" bIns="0" rtlCol="0" anchor="ctr">
            <a:noAutofit/>
          </a:bodyPr>
          <a:lstStyle/>
          <a:p>
            <a:pPr marL="0" indent="0" algn="just">
              <a:spcAft>
                <a:spcPts val="0"/>
              </a:spcAft>
              <a:buNone/>
            </a:pPr>
            <a:r>
              <a:rPr lang="en-IN" sz="2000" b="1" dirty="0"/>
              <a:t>Analyze Anything</a:t>
            </a:r>
          </a:p>
        </p:txBody>
      </p:sp>
      <p:sp>
        <p:nvSpPr>
          <p:cNvPr id="15" name="Card text 3"/>
          <p:cNvSpPr txBox="1"/>
          <p:nvPr/>
        </p:nvSpPr>
        <p:spPr>
          <a:xfrm>
            <a:off x="8252000" y="2450000"/>
            <a:ext cx="3100000" cy="1350000"/>
          </a:xfrm>
          <a:prstGeom prst="rect">
            <a:avLst/>
          </a:prstGeom>
          <a:noFill/>
          <a:ln>
            <a:noFill/>
          </a:ln>
        </p:spPr>
        <p:txBody>
          <a:bodyPr wrap="square" lIns="0" tIns="0" rIns="0" bIns="0" rtlCol="0" anchor="t">
            <a:noAutofit/>
          </a:bodyPr>
          <a:lstStyle/>
          <a:p>
            <a:pPr marL="0" indent="0" algn="just">
              <a:spcAft>
                <a:spcPts val="0"/>
              </a:spcAft>
              <a:buNone/>
            </a:pPr>
            <a:r>
              <a:rPr lang="en-IN" sz="1800" dirty="0"/>
              <a:t>Keyword frequency, sentiment estimate and summary for pasted or uploaded text/CSV.</a:t>
            </a:r>
          </a:p>
        </p:txBody>
      </p:sp>
      <p:sp>
        <p:nvSpPr>
          <p:cNvPr id="16" name="Card 4"/>
          <p:cNvSpPr/>
          <p:nvPr/>
        </p:nvSpPr>
        <p:spPr>
          <a:xfrm>
            <a:off x="690000" y="4050000"/>
            <a:ext cx="3400000" cy="2200000"/>
          </a:xfrm>
          <a:prstGeom prst="rect">
            <a:avLst/>
          </a:prstGeom>
          <a:solidFill>
            <a:srgbClr val="F3F3F3"/>
          </a:solidFill>
          <a:ln>
            <a:noFill/>
          </a:ln>
        </p:spPr>
        <p:txBody>
          <a:bodyPr wrap="square" lIns="91440" tIns="45720" rIns="91440" bIns="45720" rtlCol="0" anchor="t">
            <a:noAutofit/>
          </a:bodyPr>
          <a:lstStyle/>
          <a:p>
            <a:endParaRPr lang="en-IN"/>
          </a:p>
        </p:txBody>
      </p:sp>
      <p:sp>
        <p:nvSpPr>
          <p:cNvPr id="17" name="Badge 4"/>
          <p:cNvSpPr/>
          <p:nvPr/>
        </p:nvSpPr>
        <p:spPr>
          <a:xfrm>
            <a:off x="840000" y="4200000"/>
            <a:ext cx="480000" cy="480000"/>
          </a:xfrm>
          <a:prstGeom prst="ellipse">
            <a:avLst/>
          </a:prstGeom>
          <a:solidFill>
            <a:srgbClr val="C8102E"/>
          </a:solidFill>
          <a:ln>
            <a:noFill/>
          </a:ln>
        </p:spPr>
        <p:txBody>
          <a:bodyPr wrap="square" lIns="0" tIns="0" rIns="0" bIns="0" rtlCol="0" anchor="ctr">
            <a:noAutofit/>
          </a:bodyPr>
          <a:lstStyle/>
          <a:p>
            <a:pPr marL="0" indent="0" algn="just">
              <a:spcAft>
                <a:spcPts val="0"/>
              </a:spcAft>
              <a:buNone/>
            </a:pPr>
            <a:r>
              <a:rPr lang="en-IN" sz="1800" b="1" dirty="0">
                <a:solidFill>
                  <a:srgbClr val="FFFFFF"/>
                </a:solidFill>
              </a:rPr>
              <a:t>4</a:t>
            </a:r>
          </a:p>
        </p:txBody>
      </p:sp>
      <p:sp>
        <p:nvSpPr>
          <p:cNvPr id="18" name="Card title 4"/>
          <p:cNvSpPr txBox="1"/>
          <p:nvPr/>
        </p:nvSpPr>
        <p:spPr>
          <a:xfrm>
            <a:off x="1410000" y="4140000"/>
            <a:ext cx="2620000" cy="600000"/>
          </a:xfrm>
          <a:prstGeom prst="rect">
            <a:avLst/>
          </a:prstGeom>
          <a:noFill/>
          <a:ln>
            <a:noFill/>
          </a:ln>
        </p:spPr>
        <p:txBody>
          <a:bodyPr wrap="square" lIns="45720" tIns="0" rIns="0" bIns="0" rtlCol="0" anchor="ctr">
            <a:noAutofit/>
          </a:bodyPr>
          <a:lstStyle/>
          <a:p>
            <a:pPr marL="0" indent="0" algn="just">
              <a:spcAft>
                <a:spcPts val="0"/>
              </a:spcAft>
              <a:buNone/>
            </a:pPr>
            <a:r>
              <a:rPr lang="en-IN" sz="2000" b="1" dirty="0"/>
              <a:t>Personal Workspace</a:t>
            </a:r>
          </a:p>
        </p:txBody>
      </p:sp>
      <p:sp>
        <p:nvSpPr>
          <p:cNvPr id="19" name="Card text 4"/>
          <p:cNvSpPr txBox="1"/>
          <p:nvPr/>
        </p:nvSpPr>
        <p:spPr>
          <a:xfrm>
            <a:off x="840000" y="4850000"/>
            <a:ext cx="3100000" cy="1350000"/>
          </a:xfrm>
          <a:prstGeom prst="rect">
            <a:avLst/>
          </a:prstGeom>
          <a:noFill/>
          <a:ln>
            <a:noFill/>
          </a:ln>
        </p:spPr>
        <p:txBody>
          <a:bodyPr wrap="square" lIns="0" tIns="0" rIns="0" bIns="0" rtlCol="0" anchor="t">
            <a:noAutofit/>
          </a:bodyPr>
          <a:lstStyle/>
          <a:p>
            <a:pPr marL="0" indent="0" algn="just">
              <a:spcAft>
                <a:spcPts val="0"/>
              </a:spcAft>
              <a:buNone/>
            </a:pPr>
            <a:r>
              <a:rPr lang="en-IN" sz="1800" dirty="0"/>
              <a:t>Bookmarks, search history, analysis history and notifications for each user.</a:t>
            </a:r>
          </a:p>
        </p:txBody>
      </p:sp>
      <p:sp>
        <p:nvSpPr>
          <p:cNvPr id="20" name="Card 5"/>
          <p:cNvSpPr/>
          <p:nvPr/>
        </p:nvSpPr>
        <p:spPr>
          <a:xfrm>
            <a:off x="4396000" y="4050000"/>
            <a:ext cx="3400000" cy="2200000"/>
          </a:xfrm>
          <a:prstGeom prst="rect">
            <a:avLst/>
          </a:prstGeom>
          <a:solidFill>
            <a:srgbClr val="F3F3F3"/>
          </a:solidFill>
          <a:ln>
            <a:noFill/>
          </a:ln>
        </p:spPr>
        <p:txBody>
          <a:bodyPr wrap="square" lIns="91440" tIns="45720" rIns="91440" bIns="45720" rtlCol="0" anchor="t">
            <a:noAutofit/>
          </a:bodyPr>
          <a:lstStyle/>
          <a:p>
            <a:endParaRPr lang="en-IN"/>
          </a:p>
        </p:txBody>
      </p:sp>
      <p:sp>
        <p:nvSpPr>
          <p:cNvPr id="21" name="Badge 5"/>
          <p:cNvSpPr/>
          <p:nvPr/>
        </p:nvSpPr>
        <p:spPr>
          <a:xfrm>
            <a:off x="4546000" y="4200000"/>
            <a:ext cx="480000" cy="480000"/>
          </a:xfrm>
          <a:prstGeom prst="ellipse">
            <a:avLst/>
          </a:prstGeom>
          <a:solidFill>
            <a:srgbClr val="C8102E"/>
          </a:solidFill>
          <a:ln>
            <a:noFill/>
          </a:ln>
        </p:spPr>
        <p:txBody>
          <a:bodyPr wrap="square" lIns="0" tIns="0" rIns="0" bIns="0" rtlCol="0" anchor="ctr">
            <a:noAutofit/>
          </a:bodyPr>
          <a:lstStyle/>
          <a:p>
            <a:pPr marL="0" indent="0" algn="just">
              <a:spcAft>
                <a:spcPts val="0"/>
              </a:spcAft>
              <a:buNone/>
            </a:pPr>
            <a:r>
              <a:rPr lang="en-IN" sz="1800" b="1" dirty="0">
                <a:solidFill>
                  <a:srgbClr val="FFFFFF"/>
                </a:solidFill>
              </a:rPr>
              <a:t>5</a:t>
            </a:r>
          </a:p>
        </p:txBody>
      </p:sp>
      <p:sp>
        <p:nvSpPr>
          <p:cNvPr id="22" name="Card title 5"/>
          <p:cNvSpPr txBox="1"/>
          <p:nvPr/>
        </p:nvSpPr>
        <p:spPr>
          <a:xfrm>
            <a:off x="5116000" y="4140000"/>
            <a:ext cx="2620000" cy="600000"/>
          </a:xfrm>
          <a:prstGeom prst="rect">
            <a:avLst/>
          </a:prstGeom>
          <a:noFill/>
          <a:ln>
            <a:noFill/>
          </a:ln>
        </p:spPr>
        <p:txBody>
          <a:bodyPr wrap="square" lIns="45720" tIns="0" rIns="0" bIns="0" rtlCol="0" anchor="ctr">
            <a:noAutofit/>
          </a:bodyPr>
          <a:lstStyle/>
          <a:p>
            <a:pPr marL="0" indent="0" algn="just">
              <a:spcAft>
                <a:spcPts val="0"/>
              </a:spcAft>
              <a:buNone/>
            </a:pPr>
            <a:r>
              <a:rPr lang="en-IN" sz="2000" b="1" dirty="0"/>
              <a:t>Reports &amp; Export</a:t>
            </a:r>
          </a:p>
        </p:txBody>
      </p:sp>
      <p:sp>
        <p:nvSpPr>
          <p:cNvPr id="23" name="Card text 5"/>
          <p:cNvSpPr txBox="1"/>
          <p:nvPr/>
        </p:nvSpPr>
        <p:spPr>
          <a:xfrm>
            <a:off x="4546000" y="4850000"/>
            <a:ext cx="3100000" cy="1350000"/>
          </a:xfrm>
          <a:prstGeom prst="rect">
            <a:avLst/>
          </a:prstGeom>
          <a:noFill/>
          <a:ln>
            <a:noFill/>
          </a:ln>
        </p:spPr>
        <p:txBody>
          <a:bodyPr wrap="square" lIns="0" tIns="0" rIns="0" bIns="0" rtlCol="0" anchor="t">
            <a:noAutofit/>
          </a:bodyPr>
          <a:lstStyle/>
          <a:p>
            <a:pPr marL="0" indent="0" algn="l">
              <a:spcAft>
                <a:spcPts val="0"/>
              </a:spcAft>
              <a:buNone/>
            </a:pPr>
            <a:r>
              <a:rPr lang="en-IN" sz="1800" dirty="0"/>
              <a:t>Export results as CSV or print a report to PDF from the browser.</a:t>
            </a:r>
          </a:p>
        </p:txBody>
      </p:sp>
      <p:sp>
        <p:nvSpPr>
          <p:cNvPr id="24" name="Card 6"/>
          <p:cNvSpPr/>
          <p:nvPr/>
        </p:nvSpPr>
        <p:spPr>
          <a:xfrm>
            <a:off x="8102000" y="4050000"/>
            <a:ext cx="3400000" cy="2200000"/>
          </a:xfrm>
          <a:prstGeom prst="rect">
            <a:avLst/>
          </a:prstGeom>
          <a:solidFill>
            <a:srgbClr val="F3F3F3"/>
          </a:solidFill>
          <a:ln>
            <a:noFill/>
          </a:ln>
        </p:spPr>
        <p:txBody>
          <a:bodyPr wrap="square" lIns="91440" tIns="45720" rIns="91440" bIns="45720" rtlCol="0" anchor="t">
            <a:noAutofit/>
          </a:bodyPr>
          <a:lstStyle/>
          <a:p>
            <a:endParaRPr lang="en-IN"/>
          </a:p>
        </p:txBody>
      </p:sp>
      <p:sp>
        <p:nvSpPr>
          <p:cNvPr id="25" name="Badge 6"/>
          <p:cNvSpPr/>
          <p:nvPr/>
        </p:nvSpPr>
        <p:spPr>
          <a:xfrm>
            <a:off x="8252000" y="4200000"/>
            <a:ext cx="480000" cy="480000"/>
          </a:xfrm>
          <a:prstGeom prst="ellipse">
            <a:avLst/>
          </a:prstGeom>
          <a:solidFill>
            <a:srgbClr val="C8102E"/>
          </a:solidFill>
          <a:ln>
            <a:noFill/>
          </a:ln>
        </p:spPr>
        <p:txBody>
          <a:bodyPr wrap="square" lIns="0" tIns="0" rIns="0" bIns="0" rtlCol="0" anchor="ctr">
            <a:noAutofit/>
          </a:bodyPr>
          <a:lstStyle/>
          <a:p>
            <a:pPr marL="0" indent="0" algn="just">
              <a:spcAft>
                <a:spcPts val="0"/>
              </a:spcAft>
              <a:buNone/>
            </a:pPr>
            <a:r>
              <a:rPr lang="en-IN" sz="1800" b="1" dirty="0">
                <a:solidFill>
                  <a:srgbClr val="FFFFFF"/>
                </a:solidFill>
              </a:rPr>
              <a:t>6</a:t>
            </a:r>
          </a:p>
        </p:txBody>
      </p:sp>
      <p:sp>
        <p:nvSpPr>
          <p:cNvPr id="26" name="Card title 6"/>
          <p:cNvSpPr txBox="1"/>
          <p:nvPr/>
        </p:nvSpPr>
        <p:spPr>
          <a:xfrm>
            <a:off x="8822000" y="4140000"/>
            <a:ext cx="2620000" cy="600000"/>
          </a:xfrm>
          <a:prstGeom prst="rect">
            <a:avLst/>
          </a:prstGeom>
          <a:noFill/>
          <a:ln>
            <a:noFill/>
          </a:ln>
        </p:spPr>
        <p:txBody>
          <a:bodyPr wrap="square" lIns="45720" tIns="0" rIns="0" bIns="0" rtlCol="0" anchor="ctr">
            <a:noAutofit/>
          </a:bodyPr>
          <a:lstStyle/>
          <a:p>
            <a:pPr marL="0" indent="0" algn="just">
              <a:spcAft>
                <a:spcPts val="0"/>
              </a:spcAft>
              <a:buNone/>
            </a:pPr>
            <a:r>
              <a:rPr lang="en-IN" sz="2000" b="1" dirty="0"/>
              <a:t>Advanced DSA Lab</a:t>
            </a:r>
          </a:p>
        </p:txBody>
      </p:sp>
      <p:sp>
        <p:nvSpPr>
          <p:cNvPr id="27" name="Card text 6"/>
          <p:cNvSpPr txBox="1"/>
          <p:nvPr/>
        </p:nvSpPr>
        <p:spPr>
          <a:xfrm>
            <a:off x="8252000" y="4850000"/>
            <a:ext cx="3100000" cy="1350000"/>
          </a:xfrm>
          <a:prstGeom prst="rect">
            <a:avLst/>
          </a:prstGeom>
          <a:noFill/>
          <a:ln>
            <a:noFill/>
          </a:ln>
        </p:spPr>
        <p:txBody>
          <a:bodyPr wrap="square" lIns="0" tIns="0" rIns="0" bIns="0" rtlCol="0" anchor="t">
            <a:noAutofit/>
          </a:bodyPr>
          <a:lstStyle/>
          <a:p>
            <a:pPr marL="0" indent="0" algn="just">
              <a:spcAft>
                <a:spcPts val="0"/>
              </a:spcAft>
              <a:buNone/>
            </a:pPr>
            <a:r>
              <a:rPr lang="en-IN" sz="1800" dirty="0"/>
              <a:t>Run nine algorithms on custom input and view results with execution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4000" b="1" dirty="0"/>
              <a:t>Algorithms &amp; CO Mapping</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graphicFrame>
        <p:nvGraphicFramePr>
          <p:cNvPr id="4" name="Table 4"/>
          <p:cNvGraphicFramePr>
            <a:graphicFrameLocks noGrp="1"/>
          </p:cNvGraphicFramePr>
          <p:nvPr/>
        </p:nvGraphicFramePr>
        <p:xfrm>
          <a:off x="690000" y="1700000"/>
          <a:ext cx="10812000" cy="4480000"/>
        </p:xfrm>
        <a:graphic>
          <a:graphicData uri="http://schemas.openxmlformats.org/drawingml/2006/table">
            <a:tbl>
              <a:tblPr/>
              <a:tblGrid>
                <a:gridCol w="1300000">
                  <a:extLst>
                    <a:ext uri="{9D8B030D-6E8A-4147-A177-3AD203B41FA5}">
                      <a16:colId xmlns:a16="http://schemas.microsoft.com/office/drawing/2014/main" val="20000"/>
                    </a:ext>
                  </a:extLst>
                </a:gridCol>
                <a:gridCol w="4000000">
                  <a:extLst>
                    <a:ext uri="{9D8B030D-6E8A-4147-A177-3AD203B41FA5}">
                      <a16:colId xmlns:a16="http://schemas.microsoft.com/office/drawing/2014/main" val="20001"/>
                    </a:ext>
                  </a:extLst>
                </a:gridCol>
                <a:gridCol w="5512000">
                  <a:extLst>
                    <a:ext uri="{9D8B030D-6E8A-4147-A177-3AD203B41FA5}">
                      <a16:colId xmlns:a16="http://schemas.microsoft.com/office/drawing/2014/main" val="20002"/>
                    </a:ext>
                  </a:extLst>
                </a:gridCol>
              </a:tblGrid>
              <a:tr h="640000">
                <a:tc>
                  <a:txBody>
                    <a:bodyPr/>
                    <a:lstStyle/>
                    <a:p>
                      <a:pPr>
                        <a:buNone/>
                      </a:pPr>
                      <a:r>
                        <a:rPr lang="en-IN" sz="2000" b="1" dirty="0"/>
                        <a:t>CO</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solidFill>
                      <a:srgbClr val="D9D9D9"/>
                    </a:solidFill>
                  </a:tcPr>
                </a:tc>
                <a:tc>
                  <a:txBody>
                    <a:bodyPr/>
                    <a:lstStyle/>
                    <a:p>
                      <a:pPr>
                        <a:buNone/>
                      </a:pPr>
                      <a:r>
                        <a:rPr lang="en-IN" sz="2000" b="1" dirty="0"/>
                        <a:t>Topic</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solidFill>
                      <a:srgbClr val="D9D9D9"/>
                    </a:solidFill>
                  </a:tcPr>
                </a:tc>
                <a:tc>
                  <a:txBody>
                    <a:bodyPr/>
                    <a:lstStyle/>
                    <a:p>
                      <a:pPr>
                        <a:buNone/>
                      </a:pPr>
                      <a:r>
                        <a:rPr lang="en-IN" sz="2000" b="1" dirty="0"/>
                        <a:t>Algorithms in the project</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solidFill>
                      <a:srgbClr val="D9D9D9"/>
                    </a:solidFill>
                  </a:tcPr>
                </a:tc>
                <a:extLst>
                  <a:ext uri="{0D108BD9-81ED-4DB2-BD59-A6C34878D82A}">
                    <a16:rowId xmlns:a16="http://schemas.microsoft.com/office/drawing/2014/main" val="10000"/>
                  </a:ext>
                </a:extLst>
              </a:tr>
              <a:tr h="640000">
                <a:tc>
                  <a:txBody>
                    <a:bodyPr/>
                    <a:lstStyle/>
                    <a:p>
                      <a:pPr>
                        <a:buNone/>
                      </a:pPr>
                      <a:r>
                        <a:rPr lang="en-IN" sz="1800" b="1" dirty="0"/>
                        <a:t>CO1</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Problem solving and query workflow</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Centralized query explorer and analysis dispatch</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1"/>
                  </a:ext>
                </a:extLst>
              </a:tr>
              <a:tr h="640000">
                <a:tc>
                  <a:txBody>
                    <a:bodyPr/>
                    <a:lstStyle/>
                    <a:p>
                      <a:pPr>
                        <a:buNone/>
                      </a:pPr>
                      <a:r>
                        <a:rPr lang="en-IN" sz="1800" b="1" dirty="0"/>
                        <a:t>CO2</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String algorithms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KMP, Rabin–Karp, Aho–Corasick</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2"/>
                  </a:ext>
                </a:extLst>
              </a:tr>
              <a:tr h="640000">
                <a:tc>
                  <a:txBody>
                    <a:bodyPr/>
                    <a:lstStyle/>
                    <a:p>
                      <a:pPr>
                        <a:buNone/>
                      </a:pPr>
                      <a:r>
                        <a:rPr lang="en-IN" sz="1800" b="1" dirty="0"/>
                        <a:t>CO3</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Dynamic programming</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Edit Distance (Wagner–Fischer), LCS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3"/>
                  </a:ext>
                </a:extLst>
              </a:tr>
              <a:tr h="640000">
                <a:tc>
                  <a:txBody>
                    <a:bodyPr/>
                    <a:lstStyle/>
                    <a:p>
                      <a:pPr>
                        <a:buNone/>
                      </a:pPr>
                      <a:r>
                        <a:rPr lang="en-IN" sz="1800" b="1" dirty="0"/>
                        <a:t>CO4</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Network flow</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Edmonds–Karp max flow and min cut</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4"/>
                  </a:ext>
                </a:extLst>
              </a:tr>
              <a:tr h="640000">
                <a:tc>
                  <a:txBody>
                    <a:bodyPr/>
                    <a:lstStyle/>
                    <a:p>
                      <a:pPr>
                        <a:buNone/>
                      </a:pPr>
                      <a:r>
                        <a:rPr lang="en-IN" sz="1800" b="1" dirty="0"/>
                        <a:t>CO5</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Approximation algorithms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Vertex-Cover 2-approximation</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5"/>
                  </a:ext>
                </a:extLst>
              </a:tr>
              <a:tr h="640000">
                <a:tc>
                  <a:txBody>
                    <a:bodyPr/>
                    <a:lstStyle/>
                    <a:p>
                      <a:pPr>
                        <a:buNone/>
                      </a:pPr>
                      <a:r>
                        <a:rPr lang="en-IN" sz="1800" b="1" dirty="0"/>
                        <a:t>CO6</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Randomized and parallel</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Miller–Rabin test, parallel text analysis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4000" b="1" dirty="0"/>
              <a:t>Algorithm Complexity</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graphicFrame>
        <p:nvGraphicFramePr>
          <p:cNvPr id="4" name="Table 4"/>
          <p:cNvGraphicFramePr>
            <a:graphicFrameLocks noGrp="1"/>
          </p:cNvGraphicFramePr>
          <p:nvPr/>
        </p:nvGraphicFramePr>
        <p:xfrm>
          <a:off x="690000" y="1600000"/>
          <a:ext cx="10812000" cy="4800000"/>
        </p:xfrm>
        <a:graphic>
          <a:graphicData uri="http://schemas.openxmlformats.org/drawingml/2006/table">
            <a:tbl>
              <a:tblPr/>
              <a:tblGrid>
                <a:gridCol w="2600000">
                  <a:extLst>
                    <a:ext uri="{9D8B030D-6E8A-4147-A177-3AD203B41FA5}">
                      <a16:colId xmlns:a16="http://schemas.microsoft.com/office/drawing/2014/main" val="20000"/>
                    </a:ext>
                  </a:extLst>
                </a:gridCol>
                <a:gridCol w="4300000">
                  <a:extLst>
                    <a:ext uri="{9D8B030D-6E8A-4147-A177-3AD203B41FA5}">
                      <a16:colId xmlns:a16="http://schemas.microsoft.com/office/drawing/2014/main" val="20001"/>
                    </a:ext>
                  </a:extLst>
                </a:gridCol>
                <a:gridCol w="3912000">
                  <a:extLst>
                    <a:ext uri="{9D8B030D-6E8A-4147-A177-3AD203B41FA5}">
                      <a16:colId xmlns:a16="http://schemas.microsoft.com/office/drawing/2014/main" val="20002"/>
                    </a:ext>
                  </a:extLst>
                </a:gridCol>
              </a:tblGrid>
              <a:tr h="480000">
                <a:tc>
                  <a:txBody>
                    <a:bodyPr/>
                    <a:lstStyle/>
                    <a:p>
                      <a:pPr>
                        <a:buNone/>
                      </a:pPr>
                      <a:r>
                        <a:rPr lang="en-IN" sz="1800" b="1" dirty="0"/>
                        <a:t>Algorithm</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solidFill>
                      <a:srgbClr val="D9D9D9"/>
                    </a:solidFill>
                  </a:tcPr>
                </a:tc>
                <a:tc>
                  <a:txBody>
                    <a:bodyPr/>
                    <a:lstStyle/>
                    <a:p>
                      <a:pPr>
                        <a:buNone/>
                      </a:pPr>
                      <a:r>
                        <a:rPr lang="en-IN" sz="1800" b="1" dirty="0"/>
                        <a:t>Time complexity</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solidFill>
                      <a:srgbClr val="D9D9D9"/>
                    </a:solidFill>
                  </a:tcPr>
                </a:tc>
                <a:tc>
                  <a:txBody>
                    <a:bodyPr/>
                    <a:lstStyle/>
                    <a:p>
                      <a:pPr>
                        <a:buNone/>
                      </a:pPr>
                      <a:r>
                        <a:rPr lang="en-IN" sz="1800" b="1" dirty="0"/>
                        <a:t>Used for</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solidFill>
                      <a:srgbClr val="D9D9D9"/>
                    </a:solidFill>
                  </a:tcPr>
                </a:tc>
                <a:extLst>
                  <a:ext uri="{0D108BD9-81ED-4DB2-BD59-A6C34878D82A}">
                    <a16:rowId xmlns:a16="http://schemas.microsoft.com/office/drawing/2014/main" val="10000"/>
                  </a:ext>
                </a:extLst>
              </a:tr>
              <a:tr h="480000">
                <a:tc>
                  <a:txBody>
                    <a:bodyPr/>
                    <a:lstStyle/>
                    <a:p>
                      <a:pPr>
                        <a:buNone/>
                      </a:pPr>
                      <a:r>
                        <a:rPr lang="en-IN" sz="1800" b="1" dirty="0"/>
                        <a:t>KMP</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O(n + m)</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Pattern search in text</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1"/>
                  </a:ext>
                </a:extLst>
              </a:tr>
              <a:tr h="480000">
                <a:tc>
                  <a:txBody>
                    <a:bodyPr/>
                    <a:lstStyle/>
                    <a:p>
                      <a:pPr>
                        <a:buNone/>
                      </a:pPr>
                      <a:r>
                        <a:rPr lang="en-IN" sz="1800" b="1" dirty="0"/>
                        <a:t>Rabin–Karp</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Expected O(n + m), worst O(nm)</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Hash-based pattern search</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2"/>
                  </a:ext>
                </a:extLst>
              </a:tr>
              <a:tr h="480000">
                <a:tc>
                  <a:txBody>
                    <a:bodyPr/>
                    <a:lstStyle/>
                    <a:p>
                      <a:pPr>
                        <a:buNone/>
                      </a:pPr>
                      <a:r>
                        <a:rPr lang="en-IN" sz="1800" b="1" dirty="0"/>
                        <a:t>Aho–Corasick</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O(n + pattern length + matches)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Multi-keyword search</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3"/>
                  </a:ext>
                </a:extLst>
              </a:tr>
              <a:tr h="480000">
                <a:tc>
                  <a:txBody>
                    <a:bodyPr/>
                    <a:lstStyle/>
                    <a:p>
                      <a:pPr>
                        <a:buNone/>
                      </a:pPr>
                      <a:r>
                        <a:rPr lang="en-IN" sz="1800" b="1" dirty="0"/>
                        <a:t>Edit Distance</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O(nm)</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Similarity of two strings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4"/>
                  </a:ext>
                </a:extLst>
              </a:tr>
              <a:tr h="480000">
                <a:tc>
                  <a:txBody>
                    <a:bodyPr/>
                    <a:lstStyle/>
                    <a:p>
                      <a:pPr>
                        <a:buNone/>
                      </a:pPr>
                      <a:r>
                        <a:rPr lang="en-IN" sz="1800" b="1" dirty="0"/>
                        <a:t>LCS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O(nm)</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Longest common subsequence</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5"/>
                  </a:ext>
                </a:extLst>
              </a:tr>
              <a:tr h="480000">
                <a:tc>
                  <a:txBody>
                    <a:bodyPr/>
                    <a:lstStyle/>
                    <a:p>
                      <a:pPr>
                        <a:buNone/>
                      </a:pPr>
                      <a:r>
                        <a:rPr lang="en-IN" sz="1800" b="1" dirty="0"/>
                        <a:t>Edmonds–Karp</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O(VE²)</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Max flow and min cut</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6"/>
                  </a:ext>
                </a:extLst>
              </a:tr>
              <a:tr h="480000">
                <a:tc>
                  <a:txBody>
                    <a:bodyPr/>
                    <a:lstStyle/>
                    <a:p>
                      <a:pPr>
                        <a:buNone/>
                      </a:pPr>
                      <a:r>
                        <a:rPr lang="en-IN" sz="1800" b="1" dirty="0"/>
                        <a:t>Vertex Cover</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O(E log V) as implemented</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2-approximation cover</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7"/>
                  </a:ext>
                </a:extLst>
              </a:tr>
              <a:tr h="480000">
                <a:tc>
                  <a:txBody>
                    <a:bodyPr/>
                    <a:lstStyle/>
                    <a:p>
                      <a:pPr>
                        <a:buNone/>
                      </a:pPr>
                      <a:r>
                        <a:rPr lang="en-IN" sz="1800" b="1" dirty="0"/>
                        <a:t>Miller–Rabin</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O(k log³ n)</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Primality testing</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8"/>
                  </a:ext>
                </a:extLst>
              </a:tr>
              <a:tr h="480000">
                <a:tc>
                  <a:txBody>
                    <a:bodyPr/>
                    <a:lstStyle/>
                    <a:p>
                      <a:pPr>
                        <a:buNone/>
                      </a:pPr>
                      <a:r>
                        <a:rPr lang="en-IN" sz="1800" b="1" dirty="0"/>
                        <a:t>Parallel analysis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Work split across CPU cores</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tc>
                  <a:txBody>
                    <a:bodyPr/>
                    <a:lstStyle/>
                    <a:p>
                      <a:pPr>
                        <a:buNone/>
                      </a:pPr>
                      <a:r>
                        <a:rPr lang="en-IN" sz="1800" b="0" dirty="0"/>
                        <a:t>Independent text processing</a:t>
                      </a:r>
                    </a:p>
                  </a:txBody>
                  <a:tcPr anchor="ctr">
                    <a:lnL w="12700" cap="flat" cmpd="sng" algn="ctr">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4000" b="1" dirty="0"/>
              <a:t>Database Design</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sp>
        <p:nvSpPr>
          <p:cNvPr id="4" name="DB card 1"/>
          <p:cNvSpPr/>
          <p:nvPr/>
        </p:nvSpPr>
        <p:spPr>
          <a:xfrm>
            <a:off x="690000" y="1650000"/>
            <a:ext cx="5300000" cy="2050000"/>
          </a:xfrm>
          <a:prstGeom prst="rect">
            <a:avLst/>
          </a:prstGeom>
          <a:solidFill>
            <a:srgbClr val="F3F3F3"/>
          </a:solidFill>
          <a:ln>
            <a:noFill/>
          </a:ln>
        </p:spPr>
        <p:txBody>
          <a:bodyPr wrap="square" lIns="182880" tIns="137160" rIns="182880" bIns="91440" rtlCol="0" anchor="t">
            <a:noAutofit/>
          </a:bodyPr>
          <a:lstStyle/>
          <a:p>
            <a:pPr marL="0" indent="0" algn="l">
              <a:spcAft>
                <a:spcPts val="800"/>
              </a:spcAft>
              <a:buNone/>
            </a:pPr>
            <a:r>
              <a:rPr lang="en-IN" sz="2200" b="1" dirty="0"/>
              <a:t>Users &amp; Access (3)</a:t>
            </a:r>
          </a:p>
          <a:p>
            <a:pPr marL="0" indent="0" algn="l">
              <a:spcAft>
                <a:spcPts val="0"/>
              </a:spcAft>
              <a:buNone/>
            </a:pPr>
            <a:r>
              <a:rPr lang="en-IN" sz="1800" dirty="0"/>
              <a:t>users, user_preferences, notifications</a:t>
            </a:r>
          </a:p>
        </p:txBody>
      </p:sp>
      <p:sp>
        <p:nvSpPr>
          <p:cNvPr id="5" name="DB card 2"/>
          <p:cNvSpPr/>
          <p:nvPr/>
        </p:nvSpPr>
        <p:spPr>
          <a:xfrm>
            <a:off x="6202000" y="1650000"/>
            <a:ext cx="5300000" cy="2050000"/>
          </a:xfrm>
          <a:prstGeom prst="rect">
            <a:avLst/>
          </a:prstGeom>
          <a:solidFill>
            <a:srgbClr val="F3F3F3"/>
          </a:solidFill>
          <a:ln>
            <a:noFill/>
          </a:ln>
        </p:spPr>
        <p:txBody>
          <a:bodyPr wrap="square" lIns="182880" tIns="137160" rIns="182880" bIns="91440" rtlCol="0" anchor="t">
            <a:noAutofit/>
          </a:bodyPr>
          <a:lstStyle/>
          <a:p>
            <a:pPr marL="0" indent="0" algn="l">
              <a:spcAft>
                <a:spcPts val="800"/>
              </a:spcAft>
              <a:buNone/>
            </a:pPr>
            <a:r>
              <a:rPr lang="en-IN" sz="2200" b="1" dirty="0"/>
              <a:t>Content (7)</a:t>
            </a:r>
          </a:p>
          <a:p>
            <a:pPr marL="0" indent="0" algn="l">
              <a:spcAft>
                <a:spcPts val="0"/>
              </a:spcAft>
              <a:buNone/>
            </a:pPr>
            <a:r>
              <a:rPr lang="en-IN" sz="1800" dirty="0"/>
              <a:t>news_articles, news_sources, categories, social_posts, hashtags, post_hashtags, citation_edges</a:t>
            </a:r>
          </a:p>
        </p:txBody>
      </p:sp>
      <p:sp>
        <p:nvSpPr>
          <p:cNvPr id="6" name="DB card 3"/>
          <p:cNvSpPr/>
          <p:nvPr/>
        </p:nvSpPr>
        <p:spPr>
          <a:xfrm>
            <a:off x="690000" y="3900000"/>
            <a:ext cx="5300000" cy="2050000"/>
          </a:xfrm>
          <a:prstGeom prst="rect">
            <a:avLst/>
          </a:prstGeom>
          <a:solidFill>
            <a:srgbClr val="F3F3F3"/>
          </a:solidFill>
          <a:ln>
            <a:noFill/>
          </a:ln>
        </p:spPr>
        <p:txBody>
          <a:bodyPr wrap="square" lIns="182880" tIns="137160" rIns="182880" bIns="91440" rtlCol="0" anchor="t">
            <a:noAutofit/>
          </a:bodyPr>
          <a:lstStyle/>
          <a:p>
            <a:pPr marL="0" indent="0" algn="l">
              <a:spcAft>
                <a:spcPts val="800"/>
              </a:spcAft>
              <a:buNone/>
            </a:pPr>
            <a:r>
              <a:rPr lang="en-IN" sz="2200" b="1" dirty="0"/>
              <a:t>User Activity (4)</a:t>
            </a:r>
          </a:p>
          <a:p>
            <a:pPr marL="0" indent="0" algn="l">
              <a:spcAft>
                <a:spcPts val="0"/>
              </a:spcAft>
              <a:buNone/>
            </a:pPr>
            <a:r>
              <a:rPr lang="en-IN" sz="1800" dirty="0"/>
              <a:t>bookmarks, search_history, analysis_history, algorithm_runs</a:t>
            </a:r>
          </a:p>
        </p:txBody>
      </p:sp>
      <p:sp>
        <p:nvSpPr>
          <p:cNvPr id="7" name="DB card 4"/>
          <p:cNvSpPr/>
          <p:nvPr/>
        </p:nvSpPr>
        <p:spPr>
          <a:xfrm>
            <a:off x="6202000" y="3900000"/>
            <a:ext cx="5300000" cy="2050000"/>
          </a:xfrm>
          <a:prstGeom prst="rect">
            <a:avLst/>
          </a:prstGeom>
          <a:solidFill>
            <a:srgbClr val="F3F3F3"/>
          </a:solidFill>
          <a:ln>
            <a:noFill/>
          </a:ln>
        </p:spPr>
        <p:txBody>
          <a:bodyPr wrap="square" lIns="182880" tIns="137160" rIns="182880" bIns="91440" rtlCol="0" anchor="t">
            <a:noAutofit/>
          </a:bodyPr>
          <a:lstStyle/>
          <a:p>
            <a:pPr marL="0" indent="0" algn="l">
              <a:spcAft>
                <a:spcPts val="800"/>
              </a:spcAft>
              <a:buNone/>
            </a:pPr>
            <a:r>
              <a:rPr lang="en-IN" sz="2200" b="1" dirty="0"/>
              <a:t>Analytics (2)</a:t>
            </a:r>
          </a:p>
          <a:p>
            <a:pPr marL="0" indent="0" algn="l">
              <a:spcAft>
                <a:spcPts val="0"/>
              </a:spcAft>
              <a:buNone/>
            </a:pPr>
            <a:r>
              <a:rPr lang="en-IN" sz="1800" dirty="0"/>
              <a:t>trending_topics, sentiment_results</a:t>
            </a:r>
          </a:p>
        </p:txBody>
      </p:sp>
      <p:sp>
        <p:nvSpPr>
          <p:cNvPr id="8" name="DB note"/>
          <p:cNvSpPr txBox="1"/>
          <p:nvPr/>
        </p:nvSpPr>
        <p:spPr>
          <a:xfrm>
            <a:off x="690000" y="6050000"/>
            <a:ext cx="10812000" cy="420000"/>
          </a:xfrm>
          <a:prstGeom prst="rect">
            <a:avLst/>
          </a:prstGeom>
          <a:noFill/>
          <a:ln>
            <a:noFill/>
          </a:ln>
        </p:spPr>
        <p:txBody>
          <a:bodyPr wrap="square" lIns="91440" tIns="45720" rIns="91440" bIns="45720" rtlCol="0" anchor="ctr">
            <a:noAutofit/>
          </a:bodyPr>
          <a:lstStyle/>
          <a:p>
            <a:pPr marL="0" indent="0" algn="ctr">
              <a:spcAft>
                <a:spcPts val="0"/>
              </a:spcAft>
              <a:buNone/>
            </a:pPr>
            <a:r>
              <a:rPr lang="en-IN" sz="1800" dirty="0"/>
              <a:t>16 tables · foreign keys with cascade rules · indexes on dates, categories and users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838200" y="365125"/>
            <a:ext cx="10515600" cy="979179"/>
          </a:xfrm>
        </p:spPr>
        <p:txBody>
          <a:bodyPr>
            <a:normAutofit/>
          </a:bodyPr>
          <a:lstStyle/>
          <a:p>
            <a:pPr algn="ctr"/>
            <a:r>
              <a:rPr lang="en-IN" sz="4000" b="1" dirty="0"/>
              <a:t>Limitations &amp; Future Scope</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sp>
        <p:nvSpPr>
          <p:cNvPr id="4" name="Limitations"/>
          <p:cNvSpPr/>
          <p:nvPr/>
        </p:nvSpPr>
        <p:spPr>
          <a:xfrm>
            <a:off x="690000" y="1650000"/>
            <a:ext cx="5300000" cy="4650000"/>
          </a:xfrm>
          <a:prstGeom prst="rect">
            <a:avLst/>
          </a:prstGeom>
          <a:solidFill>
            <a:srgbClr val="F3F3F3"/>
          </a:solidFill>
          <a:ln>
            <a:noFill/>
          </a:ln>
        </p:spPr>
        <p:txBody>
          <a:bodyPr wrap="square" lIns="182880" tIns="137160" rIns="182880" bIns="91440" rtlCol="0" anchor="t">
            <a:noAutofit/>
          </a:bodyPr>
          <a:lstStyle/>
          <a:p>
            <a:pPr marL="0" indent="0" algn="l">
              <a:spcAft>
                <a:spcPts val="1000"/>
              </a:spcAft>
              <a:buNone/>
            </a:pPr>
            <a:r>
              <a:rPr lang="en-IN" sz="2600" b="1" dirty="0"/>
              <a:t>Limitations</a:t>
            </a:r>
          </a:p>
          <a:p>
            <a:pPr marL="285750" indent="-285750" algn="l">
              <a:spcAft>
                <a:spcPts val="800"/>
              </a:spcAft>
              <a:buFont typeface="Arial"/>
              <a:buChar char="•"/>
            </a:pPr>
            <a:r>
              <a:rPr lang="en-IN" sz="2000" dirty="0"/>
              <a:t>Live news and social feeds need an authorized API; stored data is sample data</a:t>
            </a:r>
          </a:p>
          <a:p>
            <a:pPr marL="285750" indent="-285750" algn="l">
              <a:spcAft>
                <a:spcPts val="800"/>
              </a:spcAft>
              <a:buFont typeface="Arial"/>
              <a:buChar char="•"/>
            </a:pPr>
            <a:r>
              <a:rPr lang="en-IN" sz="2000" dirty="0"/>
              <a:t>Sentiment is dictionary-based, not a trained AI model</a:t>
            </a:r>
          </a:p>
          <a:p>
            <a:pPr marL="285750" indent="-285750" algn="l">
              <a:spcAft>
                <a:spcPts val="800"/>
              </a:spcAft>
              <a:buFont typeface="Arial"/>
              <a:buChar char="•"/>
            </a:pPr>
            <a:r>
              <a:rPr lang="en-IN" sz="2000" dirty="0"/>
              <a:t>Summaries are extractive, built from selected sentences</a:t>
            </a:r>
          </a:p>
          <a:p>
            <a:pPr marL="285750" indent="-285750" algn="l">
              <a:spcAft>
                <a:spcPts val="0"/>
              </a:spcAft>
              <a:buFont typeface="Arial"/>
              <a:buChar char="•"/>
            </a:pPr>
            <a:r>
              <a:rPr lang="en-IN" sz="2000" dirty="0"/>
              <a:t>DSA Lab inputs have no size limits yet</a:t>
            </a:r>
          </a:p>
        </p:txBody>
      </p:sp>
      <p:sp>
        <p:nvSpPr>
          <p:cNvPr id="5" name="Future scope"/>
          <p:cNvSpPr/>
          <p:nvPr/>
        </p:nvSpPr>
        <p:spPr>
          <a:xfrm>
            <a:off x="6202000" y="1650000"/>
            <a:ext cx="5300000" cy="4650000"/>
          </a:xfrm>
          <a:prstGeom prst="rect">
            <a:avLst/>
          </a:prstGeom>
          <a:solidFill>
            <a:srgbClr val="F3F3F3"/>
          </a:solidFill>
          <a:ln>
            <a:noFill/>
          </a:ln>
        </p:spPr>
        <p:txBody>
          <a:bodyPr wrap="square" lIns="182880" tIns="137160" rIns="182880" bIns="91440" rtlCol="0" anchor="t">
            <a:noAutofit/>
          </a:bodyPr>
          <a:lstStyle/>
          <a:p>
            <a:pPr marL="0" indent="0" algn="l">
              <a:spcAft>
                <a:spcPts val="1000"/>
              </a:spcAft>
              <a:buNone/>
            </a:pPr>
            <a:r>
              <a:rPr lang="en-IN" sz="2600" b="1" dirty="0"/>
              <a:t>Future Scope</a:t>
            </a:r>
          </a:p>
          <a:p>
            <a:pPr marL="285750" indent="-285750" algn="l">
              <a:spcAft>
                <a:spcPts val="800"/>
              </a:spcAft>
              <a:buFont typeface="Arial"/>
              <a:buChar char="•"/>
            </a:pPr>
            <a:r>
              <a:rPr lang="en-IN" sz="2000" dirty="0"/>
              <a:t>Connect authorized news and social media APIs for live data</a:t>
            </a:r>
          </a:p>
          <a:p>
            <a:pPr marL="285750" indent="-285750" algn="l">
              <a:spcAft>
                <a:spcPts val="800"/>
              </a:spcAft>
              <a:buFont typeface="Arial"/>
              <a:buChar char="•"/>
            </a:pPr>
            <a:r>
              <a:rPr lang="en-IN" sz="2000" dirty="0"/>
              <a:t>Use machine-learning models for sentiment analysis</a:t>
            </a:r>
          </a:p>
          <a:p>
            <a:pPr marL="285750" indent="-285750" algn="l">
              <a:spcAft>
                <a:spcPts val="800"/>
              </a:spcAft>
              <a:buFont typeface="Arial"/>
              <a:buChar char="•"/>
            </a:pPr>
            <a:r>
              <a:rPr lang="en-IN" sz="2000" dirty="0"/>
              <a:t>Add input-size limits and validation to the DSA Lab</a:t>
            </a:r>
          </a:p>
          <a:p>
            <a:pPr marL="285750" indent="-285750" algn="l">
              <a:spcAft>
                <a:spcPts val="0"/>
              </a:spcAft>
              <a:buFont typeface="Arial"/>
              <a:buChar char="•"/>
            </a:pPr>
            <a:r>
              <a:rPr lang="en-IN" sz="2000" dirty="0"/>
              <a:t>Add email verification, cloud deployment and richer dashboards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a:xfrm>
            <a:off x="-255104" y="176281"/>
            <a:ext cx="10515600" cy="979179"/>
          </a:xfrm>
        </p:spPr>
        <p:txBody>
          <a:bodyPr>
            <a:normAutofit/>
          </a:bodyPr>
          <a:lstStyle/>
          <a:p>
            <a:pPr algn="ctr"/>
            <a:r>
              <a:rPr lang="en-IN" sz="4000" b="1" dirty="0"/>
              <a:t>Conclusion</a:t>
            </a:r>
          </a:p>
        </p:txBody>
      </p:sp>
      <p:pic>
        <p:nvPicPr>
          <p:cNvPr id="3" name="Logo"/>
          <p:cNvPicPr>
            <a:picLocks noChangeAspect="1"/>
          </p:cNvPicPr>
          <p:nvPr/>
        </p:nvPicPr>
        <p:blipFill>
          <a:blip r:embed="rId2"/>
          <a:stretch>
            <a:fillRect/>
          </a:stretch>
        </p:blipFill>
        <p:spPr>
          <a:xfrm>
            <a:off x="6544" y="0"/>
            <a:ext cx="1526833" cy="1526833"/>
          </a:xfrm>
          <a:prstGeom prst="rect">
            <a:avLst/>
          </a:prstGeom>
        </p:spPr>
      </p:pic>
      <p:sp>
        <p:nvSpPr>
          <p:cNvPr id="4" name="Content Placeholder 4"/>
          <p:cNvSpPr>
            <a:spLocks noGrp="1"/>
          </p:cNvSpPr>
          <p:nvPr>
            <p:ph idx="1"/>
          </p:nvPr>
        </p:nvSpPr>
        <p:spPr>
          <a:xfrm>
            <a:off x="1175075" y="1500000"/>
            <a:ext cx="10300000" cy="4900000"/>
          </a:xfrm>
        </p:spPr>
        <p:txBody>
          <a:bodyPr>
            <a:noAutofit/>
          </a:bodyPr>
          <a:lstStyle/>
          <a:p>
            <a:pPr marL="0" indent="0" algn="just">
              <a:spcAft>
                <a:spcPts val="1400"/>
              </a:spcAft>
              <a:buNone/>
            </a:pPr>
            <a:r>
              <a:rPr lang="en-IN" sz="2200" dirty="0"/>
              <a:t>The News &amp; Social Media Analytics Engine shows how Data Structures and Algorithms can be applied to organize and analyze growing volumes of text. Users can explore news and social posts, find popular keywords and trends, estimate sentiment and analyze their own text through a secure web interface.</a:t>
            </a:r>
          </a:p>
          <a:p>
            <a:pPr marL="0" indent="0" algn="just">
              <a:spcAft>
                <a:spcPts val="0"/>
              </a:spcAft>
              <a:buNone/>
            </a:pPr>
            <a:r>
              <a:rPr lang="en-IN" sz="2200" dirty="0"/>
              <a:t>HashMap-based counting, sorting, string matching, dynamic programming, network flow, approximation and primality testing are implemented and can be tried live in the Advanced DSA Lab. Overall, the project turns raw text into useful insights and links classroom DSA concepts to a working full-stack application.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Logo"/>
          <p:cNvPicPr>
            <a:picLocks noChangeAspect="1"/>
          </p:cNvPicPr>
          <p:nvPr/>
        </p:nvPicPr>
        <p:blipFill>
          <a:blip r:embed="rId2"/>
          <a:stretch>
            <a:fillRect/>
          </a:stretch>
        </p:blipFill>
        <p:spPr>
          <a:xfrm>
            <a:off x="6544" y="0"/>
            <a:ext cx="1526833" cy="1526833"/>
          </a:xfrm>
          <a:prstGeom prst="rect">
            <a:avLst/>
          </a:prstGeom>
        </p:spPr>
      </p:pic>
      <p:sp>
        <p:nvSpPr>
          <p:cNvPr id="3" name="Title 3"/>
          <p:cNvSpPr>
            <a:spLocks noGrp="1"/>
          </p:cNvSpPr>
          <p:nvPr>
            <p:ph type="title"/>
          </p:nvPr>
        </p:nvSpPr>
        <p:spPr>
          <a:xfrm>
            <a:off x="838200" y="2300000"/>
            <a:ext cx="10515600" cy="1400000"/>
          </a:xfrm>
        </p:spPr>
        <p:txBody>
          <a:bodyPr>
            <a:normAutofit/>
          </a:bodyPr>
          <a:lstStyle/>
          <a:p>
            <a:pPr algn="ctr"/>
            <a:r>
              <a:rPr lang="en-IN" sz="6000" b="1" dirty="0"/>
              <a:t>Thank You</a:t>
            </a:r>
          </a:p>
        </p:txBody>
      </p:sp>
      <p:sp>
        <p:nvSpPr>
          <p:cNvPr id="5" name="Team"/>
          <p:cNvSpPr txBox="1"/>
          <p:nvPr/>
        </p:nvSpPr>
        <p:spPr>
          <a:xfrm>
            <a:off x="690000" y="4700000"/>
            <a:ext cx="10812000" cy="900000"/>
          </a:xfrm>
          <a:prstGeom prst="rect">
            <a:avLst/>
          </a:prstGeom>
          <a:noFill/>
          <a:ln>
            <a:noFill/>
          </a:ln>
        </p:spPr>
        <p:txBody>
          <a:bodyPr wrap="square" lIns="91440" tIns="45720" rIns="91440" bIns="45720" rtlCol="0" anchor="t">
            <a:noAutofit/>
          </a:bodyPr>
          <a:lstStyle/>
          <a:p>
            <a:pPr marL="0" indent="0" algn="ctr">
              <a:spcAft>
                <a:spcPts val="400"/>
              </a:spcAft>
              <a:buNone/>
            </a:pPr>
            <a:r>
              <a:rPr lang="en-IN" sz="1800" dirty="0"/>
              <a:t>Team 02 · Section 12</a:t>
            </a:r>
          </a:p>
          <a:p>
            <a:pPr marL="0" indent="0" algn="ctr">
              <a:spcAft>
                <a:spcPts val="0"/>
              </a:spcAft>
              <a:buNone/>
            </a:pPr>
            <a:r>
              <a:rPr lang="en-IN" sz="1800" dirty="0"/>
              <a:t>Thota Jhana Sri (2520090121) · Sutte Alekhya (2520090126)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1083</Words>
  <Application>Microsoft Office PowerPoint</Application>
  <PresentationFormat>Widescreen</PresentationFormat>
  <Paragraphs>187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The News &amp; Social Media Analytics Engine</vt:lpstr>
      <vt:lpstr>Introduction</vt:lpstr>
      <vt:lpstr>Problem Statement &amp; Objectives</vt:lpstr>
      <vt:lpstr>Literature Survey</vt:lpstr>
      <vt:lpstr>System Architecture</vt:lpstr>
      <vt:lpstr>Software Requirements</vt:lpstr>
      <vt:lpstr>Hardware Requirements</vt:lpstr>
      <vt:lpstr>Methodology</vt:lpstr>
      <vt:lpstr>Key Features</vt:lpstr>
      <vt:lpstr>Algorithms &amp; CO Mapping</vt:lpstr>
      <vt:lpstr>Algorithm Complexity</vt:lpstr>
      <vt:lpstr>Database Design</vt:lpstr>
      <vt:lpstr>Limitations &amp; 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Sutte Alekhya Reddy</dc:creator>
  <cp:lastModifiedBy>Jhanasri Thota</cp:lastModifiedBy>
  <cp:revision>4</cp:revision>
  <dcterms:created xsi:type="dcterms:W3CDTF">2026-08-20T04:46:53Z</dcterms:created>
  <dcterms:modified xsi:type="dcterms:W3CDTF">2026-10-11T18:26:10Z</dcterms:modified>
</cp:coreProperties>
</file>