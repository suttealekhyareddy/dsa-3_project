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70" r:id="rId8"/>
    <p:sldId id="27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660"/>
  </p:normalViewPr>
  <p:slideViewPr>
    <p:cSldViewPr snapToGrid="0">
      <p:cViewPr>
        <p:scale>
          <a:sx n="66" d="100"/>
          <a:sy n="66" d="100"/>
        </p:scale>
        <p:origin x="1320" y="31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5279C-D051-9FFB-88F1-08D7D3BF1CC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07C1A1D-2758-36DA-5143-F362FB50D07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22E149B-0ADD-05F9-A878-4999DA41B2E5}"/>
              </a:ext>
            </a:extLst>
          </p:cNvPr>
          <p:cNvSpPr>
            <a:spLocks noGrp="1"/>
          </p:cNvSpPr>
          <p:nvPr>
            <p:ph type="dt" sz="half" idx="10"/>
          </p:nvPr>
        </p:nvSpPr>
        <p:spPr/>
        <p:txBody>
          <a:bodyPr/>
          <a:lstStyle/>
          <a:p>
            <a:fld id="{5922858D-E80D-4C94-8B40-3795C51D33B1}" type="datetimeFigureOut">
              <a:rPr lang="en-IN" smtClean="0"/>
              <a:t>27-08-2026</a:t>
            </a:fld>
            <a:endParaRPr lang="en-IN"/>
          </a:p>
        </p:txBody>
      </p:sp>
      <p:sp>
        <p:nvSpPr>
          <p:cNvPr id="5" name="Footer Placeholder 4">
            <a:extLst>
              <a:ext uri="{FF2B5EF4-FFF2-40B4-BE49-F238E27FC236}">
                <a16:creationId xmlns:a16="http://schemas.microsoft.com/office/drawing/2014/main" id="{CD002874-40FE-F754-0D4B-2D0D15D30D2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00B2B0B-96D4-A12E-BD0C-245D6A122BFC}"/>
              </a:ext>
            </a:extLst>
          </p:cNvPr>
          <p:cNvSpPr>
            <a:spLocks noGrp="1"/>
          </p:cNvSpPr>
          <p:nvPr>
            <p:ph type="sldNum" sz="quarter" idx="12"/>
          </p:nvPr>
        </p:nvSpPr>
        <p:spPr/>
        <p:txBody>
          <a:bodyPr/>
          <a:lstStyle/>
          <a:p>
            <a:fld id="{CBB51F7F-2657-494F-8A1E-6531DC1EC599}" type="slidenum">
              <a:rPr lang="en-IN" smtClean="0"/>
              <a:t>‹#›</a:t>
            </a:fld>
            <a:endParaRPr lang="en-IN"/>
          </a:p>
        </p:txBody>
      </p:sp>
    </p:spTree>
    <p:extLst>
      <p:ext uri="{BB962C8B-B14F-4D97-AF65-F5344CB8AC3E}">
        <p14:creationId xmlns:p14="http://schemas.microsoft.com/office/powerpoint/2010/main" val="8148453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2A96C-70B8-BD3C-E5A1-B5E811F69C4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6718BF7-ACB9-381A-83A8-ED37FBA89CC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BD55D68-662A-CE83-99E4-3FDEC3B94CB5}"/>
              </a:ext>
            </a:extLst>
          </p:cNvPr>
          <p:cNvSpPr>
            <a:spLocks noGrp="1"/>
          </p:cNvSpPr>
          <p:nvPr>
            <p:ph type="dt" sz="half" idx="10"/>
          </p:nvPr>
        </p:nvSpPr>
        <p:spPr/>
        <p:txBody>
          <a:bodyPr/>
          <a:lstStyle/>
          <a:p>
            <a:fld id="{5922858D-E80D-4C94-8B40-3795C51D33B1}" type="datetimeFigureOut">
              <a:rPr lang="en-IN" smtClean="0"/>
              <a:t>27-08-2026</a:t>
            </a:fld>
            <a:endParaRPr lang="en-IN"/>
          </a:p>
        </p:txBody>
      </p:sp>
      <p:sp>
        <p:nvSpPr>
          <p:cNvPr id="5" name="Footer Placeholder 4">
            <a:extLst>
              <a:ext uri="{FF2B5EF4-FFF2-40B4-BE49-F238E27FC236}">
                <a16:creationId xmlns:a16="http://schemas.microsoft.com/office/drawing/2014/main" id="{CA90534E-3A4F-D1B4-F5E1-E63DE6540E8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FA4BEC5-D6D2-FE3E-EA17-A7A595253DF6}"/>
              </a:ext>
            </a:extLst>
          </p:cNvPr>
          <p:cNvSpPr>
            <a:spLocks noGrp="1"/>
          </p:cNvSpPr>
          <p:nvPr>
            <p:ph type="sldNum" sz="quarter" idx="12"/>
          </p:nvPr>
        </p:nvSpPr>
        <p:spPr/>
        <p:txBody>
          <a:bodyPr/>
          <a:lstStyle/>
          <a:p>
            <a:fld id="{CBB51F7F-2657-494F-8A1E-6531DC1EC599}" type="slidenum">
              <a:rPr lang="en-IN" smtClean="0"/>
              <a:t>‹#›</a:t>
            </a:fld>
            <a:endParaRPr lang="en-IN"/>
          </a:p>
        </p:txBody>
      </p:sp>
    </p:spTree>
    <p:extLst>
      <p:ext uri="{BB962C8B-B14F-4D97-AF65-F5344CB8AC3E}">
        <p14:creationId xmlns:p14="http://schemas.microsoft.com/office/powerpoint/2010/main" val="29531301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B3790-9D35-F600-72E4-92EADCF263F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3D00EC9-8CE0-8932-2068-BB896D5E687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73DAB6-4A5B-AA8A-2A7B-D0395746D8BF}"/>
              </a:ext>
            </a:extLst>
          </p:cNvPr>
          <p:cNvSpPr>
            <a:spLocks noGrp="1"/>
          </p:cNvSpPr>
          <p:nvPr>
            <p:ph type="dt" sz="half" idx="10"/>
          </p:nvPr>
        </p:nvSpPr>
        <p:spPr/>
        <p:txBody>
          <a:bodyPr/>
          <a:lstStyle/>
          <a:p>
            <a:fld id="{5922858D-E80D-4C94-8B40-3795C51D33B1}" type="datetimeFigureOut">
              <a:rPr lang="en-IN" smtClean="0"/>
              <a:t>27-08-2026</a:t>
            </a:fld>
            <a:endParaRPr lang="en-IN"/>
          </a:p>
        </p:txBody>
      </p:sp>
      <p:sp>
        <p:nvSpPr>
          <p:cNvPr id="5" name="Footer Placeholder 4">
            <a:extLst>
              <a:ext uri="{FF2B5EF4-FFF2-40B4-BE49-F238E27FC236}">
                <a16:creationId xmlns:a16="http://schemas.microsoft.com/office/drawing/2014/main" id="{745E51E4-FE4A-F89B-EBF9-2D7B3BF63B3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6297C0-B98A-B563-6E87-E951AF06A0E7}"/>
              </a:ext>
            </a:extLst>
          </p:cNvPr>
          <p:cNvSpPr>
            <a:spLocks noGrp="1"/>
          </p:cNvSpPr>
          <p:nvPr>
            <p:ph type="sldNum" sz="quarter" idx="12"/>
          </p:nvPr>
        </p:nvSpPr>
        <p:spPr/>
        <p:txBody>
          <a:bodyPr/>
          <a:lstStyle/>
          <a:p>
            <a:fld id="{CBB51F7F-2657-494F-8A1E-6531DC1EC599}" type="slidenum">
              <a:rPr lang="en-IN" smtClean="0"/>
              <a:t>‹#›</a:t>
            </a:fld>
            <a:endParaRPr lang="en-IN"/>
          </a:p>
        </p:txBody>
      </p:sp>
    </p:spTree>
    <p:extLst>
      <p:ext uri="{BB962C8B-B14F-4D97-AF65-F5344CB8AC3E}">
        <p14:creationId xmlns:p14="http://schemas.microsoft.com/office/powerpoint/2010/main" val="31365502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A113E-4E77-2D92-9440-A4629D22326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4E789BA-FDBE-B583-4F85-2988C4C013C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21266E6-5624-9BE3-ADBE-6CECA749220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2BEAA8E-2E34-6F56-D9B8-D23D6E7FF0B4}"/>
              </a:ext>
            </a:extLst>
          </p:cNvPr>
          <p:cNvSpPr>
            <a:spLocks noGrp="1"/>
          </p:cNvSpPr>
          <p:nvPr>
            <p:ph type="dt" sz="half" idx="10"/>
          </p:nvPr>
        </p:nvSpPr>
        <p:spPr/>
        <p:txBody>
          <a:bodyPr/>
          <a:lstStyle/>
          <a:p>
            <a:fld id="{5922858D-E80D-4C94-8B40-3795C51D33B1}" type="datetimeFigureOut">
              <a:rPr lang="en-IN" smtClean="0"/>
              <a:t>27-08-2026</a:t>
            </a:fld>
            <a:endParaRPr lang="en-IN"/>
          </a:p>
        </p:txBody>
      </p:sp>
      <p:sp>
        <p:nvSpPr>
          <p:cNvPr id="6" name="Footer Placeholder 5">
            <a:extLst>
              <a:ext uri="{FF2B5EF4-FFF2-40B4-BE49-F238E27FC236}">
                <a16:creationId xmlns:a16="http://schemas.microsoft.com/office/drawing/2014/main" id="{10EE7670-5F53-E819-3770-09D3B79D22D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57F4578-B120-0AA4-CE4E-CF081A1C8116}"/>
              </a:ext>
            </a:extLst>
          </p:cNvPr>
          <p:cNvSpPr>
            <a:spLocks noGrp="1"/>
          </p:cNvSpPr>
          <p:nvPr>
            <p:ph type="sldNum" sz="quarter" idx="12"/>
          </p:nvPr>
        </p:nvSpPr>
        <p:spPr/>
        <p:txBody>
          <a:bodyPr/>
          <a:lstStyle/>
          <a:p>
            <a:fld id="{CBB51F7F-2657-494F-8A1E-6531DC1EC599}" type="slidenum">
              <a:rPr lang="en-IN" smtClean="0"/>
              <a:t>‹#›</a:t>
            </a:fld>
            <a:endParaRPr lang="en-IN"/>
          </a:p>
        </p:txBody>
      </p:sp>
    </p:spTree>
    <p:extLst>
      <p:ext uri="{BB962C8B-B14F-4D97-AF65-F5344CB8AC3E}">
        <p14:creationId xmlns:p14="http://schemas.microsoft.com/office/powerpoint/2010/main" val="2382838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C2649-1340-3954-D2E2-43E016B51E1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E9AA078-5C9A-31DF-D40A-A9745D496FD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7E54F71-F38B-0594-693C-E1AAA045C87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DA817B1-A545-447B-9430-1A227AB4A7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F34A7D-1BB9-25A9-63C9-0D9D2570177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24A3DC6-9BE5-BD1C-D0CC-C50A7B06ED24}"/>
              </a:ext>
            </a:extLst>
          </p:cNvPr>
          <p:cNvSpPr>
            <a:spLocks noGrp="1"/>
          </p:cNvSpPr>
          <p:nvPr>
            <p:ph type="dt" sz="half" idx="10"/>
          </p:nvPr>
        </p:nvSpPr>
        <p:spPr/>
        <p:txBody>
          <a:bodyPr/>
          <a:lstStyle/>
          <a:p>
            <a:fld id="{5922858D-E80D-4C94-8B40-3795C51D33B1}" type="datetimeFigureOut">
              <a:rPr lang="en-IN" smtClean="0"/>
              <a:t>27-08-2026</a:t>
            </a:fld>
            <a:endParaRPr lang="en-IN"/>
          </a:p>
        </p:txBody>
      </p:sp>
      <p:sp>
        <p:nvSpPr>
          <p:cNvPr id="8" name="Footer Placeholder 7">
            <a:extLst>
              <a:ext uri="{FF2B5EF4-FFF2-40B4-BE49-F238E27FC236}">
                <a16:creationId xmlns:a16="http://schemas.microsoft.com/office/drawing/2014/main" id="{CAFE95A0-D981-D4F1-ED4B-ED26277800F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F178ECE-3703-1BAD-E7D6-3CEFAAF63F12}"/>
              </a:ext>
            </a:extLst>
          </p:cNvPr>
          <p:cNvSpPr>
            <a:spLocks noGrp="1"/>
          </p:cNvSpPr>
          <p:nvPr>
            <p:ph type="sldNum" sz="quarter" idx="12"/>
          </p:nvPr>
        </p:nvSpPr>
        <p:spPr/>
        <p:txBody>
          <a:bodyPr/>
          <a:lstStyle/>
          <a:p>
            <a:fld id="{CBB51F7F-2657-494F-8A1E-6531DC1EC599}" type="slidenum">
              <a:rPr lang="en-IN" smtClean="0"/>
              <a:t>‹#›</a:t>
            </a:fld>
            <a:endParaRPr lang="en-IN"/>
          </a:p>
        </p:txBody>
      </p:sp>
    </p:spTree>
    <p:extLst>
      <p:ext uri="{BB962C8B-B14F-4D97-AF65-F5344CB8AC3E}">
        <p14:creationId xmlns:p14="http://schemas.microsoft.com/office/powerpoint/2010/main" val="7169079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97DCD-D282-2ED2-621D-E8177308490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FB92929-DEB2-1EFD-845E-4992BAA03702}"/>
              </a:ext>
            </a:extLst>
          </p:cNvPr>
          <p:cNvSpPr>
            <a:spLocks noGrp="1"/>
          </p:cNvSpPr>
          <p:nvPr>
            <p:ph type="dt" sz="half" idx="10"/>
          </p:nvPr>
        </p:nvSpPr>
        <p:spPr/>
        <p:txBody>
          <a:bodyPr/>
          <a:lstStyle/>
          <a:p>
            <a:fld id="{5922858D-E80D-4C94-8B40-3795C51D33B1}" type="datetimeFigureOut">
              <a:rPr lang="en-IN" smtClean="0"/>
              <a:t>27-08-2026</a:t>
            </a:fld>
            <a:endParaRPr lang="en-IN"/>
          </a:p>
        </p:txBody>
      </p:sp>
      <p:sp>
        <p:nvSpPr>
          <p:cNvPr id="4" name="Footer Placeholder 3">
            <a:extLst>
              <a:ext uri="{FF2B5EF4-FFF2-40B4-BE49-F238E27FC236}">
                <a16:creationId xmlns:a16="http://schemas.microsoft.com/office/drawing/2014/main" id="{9423BC10-2165-D424-25FB-7E9841F5500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FD2B829-D09E-BA0C-03CE-4FB277AF6B7F}"/>
              </a:ext>
            </a:extLst>
          </p:cNvPr>
          <p:cNvSpPr>
            <a:spLocks noGrp="1"/>
          </p:cNvSpPr>
          <p:nvPr>
            <p:ph type="sldNum" sz="quarter" idx="12"/>
          </p:nvPr>
        </p:nvSpPr>
        <p:spPr/>
        <p:txBody>
          <a:bodyPr/>
          <a:lstStyle/>
          <a:p>
            <a:fld id="{CBB51F7F-2657-494F-8A1E-6531DC1EC599}" type="slidenum">
              <a:rPr lang="en-IN" smtClean="0"/>
              <a:t>‹#›</a:t>
            </a:fld>
            <a:endParaRPr lang="en-IN"/>
          </a:p>
        </p:txBody>
      </p:sp>
    </p:spTree>
    <p:extLst>
      <p:ext uri="{BB962C8B-B14F-4D97-AF65-F5344CB8AC3E}">
        <p14:creationId xmlns:p14="http://schemas.microsoft.com/office/powerpoint/2010/main" val="30278201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C4260A3-45D4-CE57-006F-7FC8D44C7C68}"/>
              </a:ext>
            </a:extLst>
          </p:cNvPr>
          <p:cNvSpPr>
            <a:spLocks noGrp="1"/>
          </p:cNvSpPr>
          <p:nvPr>
            <p:ph type="dt" sz="half" idx="10"/>
          </p:nvPr>
        </p:nvSpPr>
        <p:spPr/>
        <p:txBody>
          <a:bodyPr/>
          <a:lstStyle/>
          <a:p>
            <a:fld id="{5922858D-E80D-4C94-8B40-3795C51D33B1}" type="datetimeFigureOut">
              <a:rPr lang="en-IN" smtClean="0"/>
              <a:t>27-08-2026</a:t>
            </a:fld>
            <a:endParaRPr lang="en-IN"/>
          </a:p>
        </p:txBody>
      </p:sp>
      <p:sp>
        <p:nvSpPr>
          <p:cNvPr id="3" name="Footer Placeholder 2">
            <a:extLst>
              <a:ext uri="{FF2B5EF4-FFF2-40B4-BE49-F238E27FC236}">
                <a16:creationId xmlns:a16="http://schemas.microsoft.com/office/drawing/2014/main" id="{278DE188-9438-EFDB-F644-414BBDEFA5B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369678B-F210-11C7-40E6-DDE6ADA6C9A6}"/>
              </a:ext>
            </a:extLst>
          </p:cNvPr>
          <p:cNvSpPr>
            <a:spLocks noGrp="1"/>
          </p:cNvSpPr>
          <p:nvPr>
            <p:ph type="sldNum" sz="quarter" idx="12"/>
          </p:nvPr>
        </p:nvSpPr>
        <p:spPr/>
        <p:txBody>
          <a:bodyPr/>
          <a:lstStyle/>
          <a:p>
            <a:fld id="{CBB51F7F-2657-494F-8A1E-6531DC1EC599}" type="slidenum">
              <a:rPr lang="en-IN" smtClean="0"/>
              <a:t>‹#›</a:t>
            </a:fld>
            <a:endParaRPr lang="en-IN"/>
          </a:p>
        </p:txBody>
      </p:sp>
    </p:spTree>
    <p:extLst>
      <p:ext uri="{BB962C8B-B14F-4D97-AF65-F5344CB8AC3E}">
        <p14:creationId xmlns:p14="http://schemas.microsoft.com/office/powerpoint/2010/main" val="41324452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BDB57-0443-E1E2-CA1B-D11F962945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D3672B1-8D5E-BAB6-C80C-8969C8D16C1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68F8506-65DC-2122-AB48-E5B4AB2A5D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106DEF-EAF9-86F1-994C-3062BAF2D4E2}"/>
              </a:ext>
            </a:extLst>
          </p:cNvPr>
          <p:cNvSpPr>
            <a:spLocks noGrp="1"/>
          </p:cNvSpPr>
          <p:nvPr>
            <p:ph type="dt" sz="half" idx="10"/>
          </p:nvPr>
        </p:nvSpPr>
        <p:spPr/>
        <p:txBody>
          <a:bodyPr/>
          <a:lstStyle/>
          <a:p>
            <a:fld id="{5922858D-E80D-4C94-8B40-3795C51D33B1}" type="datetimeFigureOut">
              <a:rPr lang="en-IN" smtClean="0"/>
              <a:t>27-08-2026</a:t>
            </a:fld>
            <a:endParaRPr lang="en-IN"/>
          </a:p>
        </p:txBody>
      </p:sp>
      <p:sp>
        <p:nvSpPr>
          <p:cNvPr id="6" name="Footer Placeholder 5">
            <a:extLst>
              <a:ext uri="{FF2B5EF4-FFF2-40B4-BE49-F238E27FC236}">
                <a16:creationId xmlns:a16="http://schemas.microsoft.com/office/drawing/2014/main" id="{B381C6C6-3F22-991A-E283-ECFC78D4100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4F43C27-4F51-1030-6C2B-E03E16FD8C07}"/>
              </a:ext>
            </a:extLst>
          </p:cNvPr>
          <p:cNvSpPr>
            <a:spLocks noGrp="1"/>
          </p:cNvSpPr>
          <p:nvPr>
            <p:ph type="sldNum" sz="quarter" idx="12"/>
          </p:nvPr>
        </p:nvSpPr>
        <p:spPr/>
        <p:txBody>
          <a:bodyPr/>
          <a:lstStyle/>
          <a:p>
            <a:fld id="{CBB51F7F-2657-494F-8A1E-6531DC1EC599}" type="slidenum">
              <a:rPr lang="en-IN" smtClean="0"/>
              <a:t>‹#›</a:t>
            </a:fld>
            <a:endParaRPr lang="en-IN"/>
          </a:p>
        </p:txBody>
      </p:sp>
    </p:spTree>
    <p:extLst>
      <p:ext uri="{BB962C8B-B14F-4D97-AF65-F5344CB8AC3E}">
        <p14:creationId xmlns:p14="http://schemas.microsoft.com/office/powerpoint/2010/main" val="14187618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2E035-7102-A2F6-798B-F280E7AF0F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154CE0F-54B7-AD2B-E0B1-7851A62A0CC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68D5DBE-3D0C-A642-6A01-08C39EC79F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C480FD-C47B-ABCE-A899-982CCCC8F986}"/>
              </a:ext>
            </a:extLst>
          </p:cNvPr>
          <p:cNvSpPr>
            <a:spLocks noGrp="1"/>
          </p:cNvSpPr>
          <p:nvPr>
            <p:ph type="dt" sz="half" idx="10"/>
          </p:nvPr>
        </p:nvSpPr>
        <p:spPr/>
        <p:txBody>
          <a:bodyPr/>
          <a:lstStyle/>
          <a:p>
            <a:fld id="{5922858D-E80D-4C94-8B40-3795C51D33B1}" type="datetimeFigureOut">
              <a:rPr lang="en-IN" smtClean="0"/>
              <a:t>27-08-2026</a:t>
            </a:fld>
            <a:endParaRPr lang="en-IN"/>
          </a:p>
        </p:txBody>
      </p:sp>
      <p:sp>
        <p:nvSpPr>
          <p:cNvPr id="6" name="Footer Placeholder 5">
            <a:extLst>
              <a:ext uri="{FF2B5EF4-FFF2-40B4-BE49-F238E27FC236}">
                <a16:creationId xmlns:a16="http://schemas.microsoft.com/office/drawing/2014/main" id="{D10C978A-1580-A561-4684-1FAC5C9821D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9F7EF76-489C-8241-2509-87048D5A914C}"/>
              </a:ext>
            </a:extLst>
          </p:cNvPr>
          <p:cNvSpPr>
            <a:spLocks noGrp="1"/>
          </p:cNvSpPr>
          <p:nvPr>
            <p:ph type="sldNum" sz="quarter" idx="12"/>
          </p:nvPr>
        </p:nvSpPr>
        <p:spPr/>
        <p:txBody>
          <a:bodyPr/>
          <a:lstStyle/>
          <a:p>
            <a:fld id="{CBB51F7F-2657-494F-8A1E-6531DC1EC599}" type="slidenum">
              <a:rPr lang="en-IN" smtClean="0"/>
              <a:t>‹#›</a:t>
            </a:fld>
            <a:endParaRPr lang="en-IN"/>
          </a:p>
        </p:txBody>
      </p:sp>
    </p:spTree>
    <p:extLst>
      <p:ext uri="{BB962C8B-B14F-4D97-AF65-F5344CB8AC3E}">
        <p14:creationId xmlns:p14="http://schemas.microsoft.com/office/powerpoint/2010/main" val="3957402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3C9BA-8188-58BA-EE09-E52F983B27F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D15536A-8D28-0B4D-94F9-8004F15360C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D4A7306-930F-3D63-9E7C-5BA42844BA30}"/>
              </a:ext>
            </a:extLst>
          </p:cNvPr>
          <p:cNvSpPr>
            <a:spLocks noGrp="1"/>
          </p:cNvSpPr>
          <p:nvPr>
            <p:ph type="dt" sz="half" idx="10"/>
          </p:nvPr>
        </p:nvSpPr>
        <p:spPr/>
        <p:txBody>
          <a:bodyPr/>
          <a:lstStyle/>
          <a:p>
            <a:fld id="{5922858D-E80D-4C94-8B40-3795C51D33B1}" type="datetimeFigureOut">
              <a:rPr lang="en-IN" smtClean="0"/>
              <a:t>27-08-2026</a:t>
            </a:fld>
            <a:endParaRPr lang="en-IN"/>
          </a:p>
        </p:txBody>
      </p:sp>
      <p:sp>
        <p:nvSpPr>
          <p:cNvPr id="5" name="Footer Placeholder 4">
            <a:extLst>
              <a:ext uri="{FF2B5EF4-FFF2-40B4-BE49-F238E27FC236}">
                <a16:creationId xmlns:a16="http://schemas.microsoft.com/office/drawing/2014/main" id="{D094D6E5-38AA-AD41-033D-C1440057EF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C353A60-365B-142A-F4E7-B780FE0339A0}"/>
              </a:ext>
            </a:extLst>
          </p:cNvPr>
          <p:cNvSpPr>
            <a:spLocks noGrp="1"/>
          </p:cNvSpPr>
          <p:nvPr>
            <p:ph type="sldNum" sz="quarter" idx="12"/>
          </p:nvPr>
        </p:nvSpPr>
        <p:spPr/>
        <p:txBody>
          <a:bodyPr/>
          <a:lstStyle/>
          <a:p>
            <a:fld id="{CBB51F7F-2657-494F-8A1E-6531DC1EC599}" type="slidenum">
              <a:rPr lang="en-IN" smtClean="0"/>
              <a:t>‹#›</a:t>
            </a:fld>
            <a:endParaRPr lang="en-IN"/>
          </a:p>
        </p:txBody>
      </p:sp>
    </p:spTree>
    <p:extLst>
      <p:ext uri="{BB962C8B-B14F-4D97-AF65-F5344CB8AC3E}">
        <p14:creationId xmlns:p14="http://schemas.microsoft.com/office/powerpoint/2010/main" val="24218661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379346-3682-1A20-1F16-737E377841D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B5BF022-5EB6-DD15-EFF7-17AEC3A5828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C580D40-89B3-472D-5910-C3A2850EE287}"/>
              </a:ext>
            </a:extLst>
          </p:cNvPr>
          <p:cNvSpPr>
            <a:spLocks noGrp="1"/>
          </p:cNvSpPr>
          <p:nvPr>
            <p:ph type="dt" sz="half" idx="10"/>
          </p:nvPr>
        </p:nvSpPr>
        <p:spPr/>
        <p:txBody>
          <a:bodyPr/>
          <a:lstStyle/>
          <a:p>
            <a:fld id="{5922858D-E80D-4C94-8B40-3795C51D33B1}" type="datetimeFigureOut">
              <a:rPr lang="en-IN" smtClean="0"/>
              <a:t>27-08-2026</a:t>
            </a:fld>
            <a:endParaRPr lang="en-IN"/>
          </a:p>
        </p:txBody>
      </p:sp>
      <p:sp>
        <p:nvSpPr>
          <p:cNvPr id="5" name="Footer Placeholder 4">
            <a:extLst>
              <a:ext uri="{FF2B5EF4-FFF2-40B4-BE49-F238E27FC236}">
                <a16:creationId xmlns:a16="http://schemas.microsoft.com/office/drawing/2014/main" id="{EA717A20-4479-653B-2389-F9BF94B01F3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6E547B-7F98-AE9E-AFF6-764226720024}"/>
              </a:ext>
            </a:extLst>
          </p:cNvPr>
          <p:cNvSpPr>
            <a:spLocks noGrp="1"/>
          </p:cNvSpPr>
          <p:nvPr>
            <p:ph type="sldNum" sz="quarter" idx="12"/>
          </p:nvPr>
        </p:nvSpPr>
        <p:spPr/>
        <p:txBody>
          <a:bodyPr/>
          <a:lstStyle/>
          <a:p>
            <a:fld id="{CBB51F7F-2657-494F-8A1E-6531DC1EC599}" type="slidenum">
              <a:rPr lang="en-IN" smtClean="0"/>
              <a:t>‹#›</a:t>
            </a:fld>
            <a:endParaRPr lang="en-IN"/>
          </a:p>
        </p:txBody>
      </p:sp>
    </p:spTree>
    <p:extLst>
      <p:ext uri="{BB962C8B-B14F-4D97-AF65-F5344CB8AC3E}">
        <p14:creationId xmlns:p14="http://schemas.microsoft.com/office/powerpoint/2010/main" val="7179540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D371AF3-665C-1F8B-D3CB-32715738BA9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EA3B482-AF4A-07A1-5012-5D03C1A2EB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41E6B0A-D386-8CD1-9AA2-962F1DF2A70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922858D-E80D-4C94-8B40-3795C51D33B1}" type="datetimeFigureOut">
              <a:rPr lang="en-IN" smtClean="0"/>
              <a:t>27-08-2026</a:t>
            </a:fld>
            <a:endParaRPr lang="en-IN"/>
          </a:p>
        </p:txBody>
      </p:sp>
      <p:sp>
        <p:nvSpPr>
          <p:cNvPr id="5" name="Footer Placeholder 4">
            <a:extLst>
              <a:ext uri="{FF2B5EF4-FFF2-40B4-BE49-F238E27FC236}">
                <a16:creationId xmlns:a16="http://schemas.microsoft.com/office/drawing/2014/main" id="{6E168F56-5208-05E4-755C-82CEACB4F51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763D8D6F-8824-3261-8122-0D5D57C4D88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B51F7F-2657-494F-8A1E-6531DC1EC599}" type="slidenum">
              <a:rPr lang="en-IN" smtClean="0"/>
              <a:t>‹#›</a:t>
            </a:fld>
            <a:endParaRPr lang="en-IN"/>
          </a:p>
        </p:txBody>
      </p:sp>
    </p:spTree>
    <p:extLst>
      <p:ext uri="{BB962C8B-B14F-4D97-AF65-F5344CB8AC3E}">
        <p14:creationId xmlns:p14="http://schemas.microsoft.com/office/powerpoint/2010/main" val="7950017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909DA-EB8D-5971-C2EF-08173A446E62}"/>
              </a:ext>
            </a:extLst>
          </p:cNvPr>
          <p:cNvSpPr>
            <a:spLocks noGrp="1"/>
          </p:cNvSpPr>
          <p:nvPr>
            <p:ph type="ctrTitle"/>
          </p:nvPr>
        </p:nvSpPr>
        <p:spPr>
          <a:xfrm>
            <a:off x="104173" y="0"/>
            <a:ext cx="12195858" cy="2387600"/>
          </a:xfrm>
        </p:spPr>
        <p:txBody>
          <a:bodyPr>
            <a:normAutofit/>
          </a:bodyPr>
          <a:lstStyle/>
          <a:p>
            <a:r>
              <a:rPr lang="en-US" sz="4400" b="1" dirty="0"/>
              <a:t>The News &amp; Social Media Analytics Engine</a:t>
            </a:r>
            <a:endParaRPr lang="en-IN" sz="4400" dirty="0"/>
          </a:p>
        </p:txBody>
      </p:sp>
      <p:sp>
        <p:nvSpPr>
          <p:cNvPr id="3" name="Subtitle 2">
            <a:extLst>
              <a:ext uri="{FF2B5EF4-FFF2-40B4-BE49-F238E27FC236}">
                <a16:creationId xmlns:a16="http://schemas.microsoft.com/office/drawing/2014/main" id="{635DBF49-E886-C834-625E-210493600465}"/>
              </a:ext>
            </a:extLst>
          </p:cNvPr>
          <p:cNvSpPr>
            <a:spLocks noGrp="1"/>
          </p:cNvSpPr>
          <p:nvPr>
            <p:ph type="subTitle" idx="1"/>
          </p:nvPr>
        </p:nvSpPr>
        <p:spPr>
          <a:xfrm>
            <a:off x="2340015" y="2559352"/>
            <a:ext cx="6655444" cy="3822098"/>
          </a:xfrm>
        </p:spPr>
        <p:txBody>
          <a:bodyPr>
            <a:normAutofit/>
          </a:bodyPr>
          <a:lstStyle/>
          <a:p>
            <a:r>
              <a:rPr lang="en-US" b="1" dirty="0"/>
              <a:t>Data Structures and Algorithms -3 (25CS2103E) </a:t>
            </a:r>
            <a:endParaRPr lang="en-IN" dirty="0"/>
          </a:p>
          <a:p>
            <a:r>
              <a:rPr lang="en-IN" dirty="0"/>
              <a:t>Team Number: 02         </a:t>
            </a:r>
          </a:p>
          <a:p>
            <a:r>
              <a:rPr lang="en-IN" dirty="0"/>
              <a:t>    Section: 12</a:t>
            </a:r>
          </a:p>
          <a:p>
            <a:r>
              <a:rPr lang="en-US" b="1" dirty="0"/>
              <a:t> </a:t>
            </a:r>
            <a:endParaRPr lang="en-IN" b="1" dirty="0"/>
          </a:p>
          <a:p>
            <a:r>
              <a:rPr lang="en-US" dirty="0"/>
              <a:t>Under the guidance of</a:t>
            </a:r>
            <a:endParaRPr lang="en-IN" dirty="0"/>
          </a:p>
          <a:p>
            <a:r>
              <a:rPr lang="en-US" dirty="0"/>
              <a:t>Ms. K. </a:t>
            </a:r>
            <a:r>
              <a:rPr lang="en-US" dirty="0" err="1"/>
              <a:t>Chandusha</a:t>
            </a:r>
            <a:r>
              <a:rPr lang="en-US" dirty="0"/>
              <a:t> </a:t>
            </a:r>
            <a:endParaRPr lang="en-IN" dirty="0"/>
          </a:p>
          <a:p>
            <a:r>
              <a:rPr lang="en-US" dirty="0"/>
              <a:t>            Assistant Professor, CS&amp;IT </a:t>
            </a:r>
            <a:endParaRPr lang="en-IN" dirty="0"/>
          </a:p>
          <a:p>
            <a:endParaRPr lang="en-IN" dirty="0"/>
          </a:p>
        </p:txBody>
      </p:sp>
      <p:pic>
        <p:nvPicPr>
          <p:cNvPr id="5" name="Picture 4">
            <a:extLst>
              <a:ext uri="{FF2B5EF4-FFF2-40B4-BE49-F238E27FC236}">
                <a16:creationId xmlns:a16="http://schemas.microsoft.com/office/drawing/2014/main" id="{5D19AC4D-D043-BFDD-E83E-91FB37CE57FC}"/>
              </a:ext>
            </a:extLst>
          </p:cNvPr>
          <p:cNvPicPr>
            <a:picLocks noChangeAspect="1"/>
          </p:cNvPicPr>
          <p:nvPr/>
        </p:nvPicPr>
        <p:blipFill>
          <a:blip r:embed="rId2"/>
          <a:stretch>
            <a:fillRect/>
          </a:stretch>
        </p:blipFill>
        <p:spPr>
          <a:xfrm>
            <a:off x="0" y="-104172"/>
            <a:ext cx="1735179" cy="1735179"/>
          </a:xfrm>
          <a:prstGeom prst="rect">
            <a:avLst/>
          </a:prstGeom>
        </p:spPr>
      </p:pic>
      <p:sp>
        <p:nvSpPr>
          <p:cNvPr id="7" name="TextBox 6">
            <a:extLst>
              <a:ext uri="{FF2B5EF4-FFF2-40B4-BE49-F238E27FC236}">
                <a16:creationId xmlns:a16="http://schemas.microsoft.com/office/drawing/2014/main" id="{A64CA26E-087A-73A0-6CF4-06D689D4238B}"/>
              </a:ext>
            </a:extLst>
          </p:cNvPr>
          <p:cNvSpPr txBox="1"/>
          <p:nvPr/>
        </p:nvSpPr>
        <p:spPr>
          <a:xfrm>
            <a:off x="9851985" y="5011341"/>
            <a:ext cx="2682433" cy="1846659"/>
          </a:xfrm>
          <a:prstGeom prst="rect">
            <a:avLst/>
          </a:prstGeom>
          <a:noFill/>
        </p:spPr>
        <p:txBody>
          <a:bodyPr wrap="square">
            <a:spAutoFit/>
          </a:bodyPr>
          <a:lstStyle/>
          <a:p>
            <a:r>
              <a:rPr lang="en-US" dirty="0"/>
              <a:t>Submitted by:  </a:t>
            </a:r>
            <a:endParaRPr lang="en-IN" dirty="0"/>
          </a:p>
          <a:p>
            <a:r>
              <a:rPr lang="en-US" dirty="0"/>
              <a:t>Thota Jhana Sri 2520090121</a:t>
            </a:r>
            <a:endParaRPr lang="en-IN" dirty="0"/>
          </a:p>
          <a:p>
            <a:r>
              <a:rPr lang="en-IN" dirty="0" err="1"/>
              <a:t>Sutte</a:t>
            </a:r>
            <a:r>
              <a:rPr lang="en-IN" dirty="0"/>
              <a:t> Alekhya 2520090126</a:t>
            </a:r>
          </a:p>
          <a:p>
            <a:r>
              <a:rPr lang="en-IN" sz="2400" dirty="0"/>
              <a:t>                          </a:t>
            </a:r>
          </a:p>
        </p:txBody>
      </p:sp>
    </p:spTree>
    <p:extLst>
      <p:ext uri="{BB962C8B-B14F-4D97-AF65-F5344CB8AC3E}">
        <p14:creationId xmlns:p14="http://schemas.microsoft.com/office/powerpoint/2010/main" val="1593719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1AF0E-A46B-9946-9883-9512F4981E8F}"/>
              </a:ext>
            </a:extLst>
          </p:cNvPr>
          <p:cNvSpPr>
            <a:spLocks noGrp="1"/>
          </p:cNvSpPr>
          <p:nvPr>
            <p:ph type="title"/>
          </p:nvPr>
        </p:nvSpPr>
        <p:spPr>
          <a:xfrm>
            <a:off x="281406" y="201270"/>
            <a:ext cx="10515600" cy="1325563"/>
          </a:xfrm>
        </p:spPr>
        <p:txBody>
          <a:bodyPr>
            <a:normAutofit/>
          </a:bodyPr>
          <a:lstStyle/>
          <a:p>
            <a:pPr algn="ctr"/>
            <a:r>
              <a:rPr lang="en-IN" sz="4000" b="1" dirty="0"/>
              <a:t> Introduction</a:t>
            </a:r>
          </a:p>
        </p:txBody>
      </p:sp>
      <p:sp>
        <p:nvSpPr>
          <p:cNvPr id="3" name="Content Placeholder 2">
            <a:extLst>
              <a:ext uri="{FF2B5EF4-FFF2-40B4-BE49-F238E27FC236}">
                <a16:creationId xmlns:a16="http://schemas.microsoft.com/office/drawing/2014/main" id="{FEE07A8C-D431-0711-EAC5-751BA282885F}"/>
              </a:ext>
            </a:extLst>
          </p:cNvPr>
          <p:cNvSpPr>
            <a:spLocks noGrp="1"/>
          </p:cNvSpPr>
          <p:nvPr>
            <p:ph idx="1"/>
          </p:nvPr>
        </p:nvSpPr>
        <p:spPr>
          <a:xfrm>
            <a:off x="1175075" y="1387937"/>
            <a:ext cx="10515600" cy="5104263"/>
          </a:xfrm>
        </p:spPr>
        <p:txBody>
          <a:bodyPr>
            <a:noAutofit/>
          </a:bodyPr>
          <a:lstStyle/>
          <a:p>
            <a:pPr marL="0" indent="0">
              <a:buNone/>
            </a:pPr>
            <a:r>
              <a:rPr lang="en-IN" sz="2400" dirty="0"/>
              <a:t>             The News &amp; Social Media Analytics Engine is a Java-based application developed to </a:t>
            </a:r>
            <a:r>
              <a:rPr lang="en-IN" sz="2400" dirty="0" err="1"/>
              <a:t>analyze</a:t>
            </a:r>
            <a:r>
              <a:rPr lang="en-IN" sz="2400" dirty="0"/>
              <a:t> large amounts of news articles and social media posts in an organized and efficient manner. With the rapid growth of digital platforms, users receive information from many sources, making it difficult to identify which topics are popular and which information is most relevant. The proposed system processes textual data and extracts useful information such as frequent keywords, hashtags, trending topics, and sentiment patterns.</a:t>
            </a:r>
          </a:p>
          <a:p>
            <a:pPr marL="0" indent="0">
              <a:buNone/>
            </a:pPr>
            <a:r>
              <a:rPr lang="en-IN" sz="2400" dirty="0"/>
              <a:t>              The main focus of the project is the practical application of Data Structures and Algorithms to solve a real-world analytics problem. HashMap is used for efficient frequency counting, Lists for storing and managing data, Searching and Sorting algorithms for retrieving and ranking information, and Priority Queue for identifying the most trending topics. The system converts raw news and social media data into meaningful results, helping users understand current trends and opinions while demonstrating the importance of DSA in efficient data processing.</a:t>
            </a:r>
          </a:p>
        </p:txBody>
      </p:sp>
      <p:pic>
        <p:nvPicPr>
          <p:cNvPr id="5" name="Picture 4">
            <a:extLst>
              <a:ext uri="{FF2B5EF4-FFF2-40B4-BE49-F238E27FC236}">
                <a16:creationId xmlns:a16="http://schemas.microsoft.com/office/drawing/2014/main" id="{C3A35119-3966-CCC7-705F-A2F96E6E55FE}"/>
              </a:ext>
            </a:extLst>
          </p:cNvPr>
          <p:cNvPicPr>
            <a:picLocks noChangeAspect="1"/>
          </p:cNvPicPr>
          <p:nvPr/>
        </p:nvPicPr>
        <p:blipFill>
          <a:blip r:embed="rId2"/>
          <a:stretch>
            <a:fillRect/>
          </a:stretch>
        </p:blipFill>
        <p:spPr>
          <a:xfrm>
            <a:off x="6544" y="0"/>
            <a:ext cx="1526833" cy="1526833"/>
          </a:xfrm>
          <a:prstGeom prst="rect">
            <a:avLst/>
          </a:prstGeom>
        </p:spPr>
      </p:pic>
    </p:spTree>
    <p:extLst>
      <p:ext uri="{BB962C8B-B14F-4D97-AF65-F5344CB8AC3E}">
        <p14:creationId xmlns:p14="http://schemas.microsoft.com/office/powerpoint/2010/main" val="10013944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BBD45-069D-37E8-C108-B377B7615E07}"/>
              </a:ext>
            </a:extLst>
          </p:cNvPr>
          <p:cNvSpPr>
            <a:spLocks noGrp="1"/>
          </p:cNvSpPr>
          <p:nvPr>
            <p:ph type="title"/>
          </p:nvPr>
        </p:nvSpPr>
        <p:spPr>
          <a:xfrm>
            <a:off x="688075" y="0"/>
            <a:ext cx="10515600" cy="1325563"/>
          </a:xfrm>
        </p:spPr>
        <p:txBody>
          <a:bodyPr>
            <a:normAutofit/>
          </a:bodyPr>
          <a:lstStyle/>
          <a:p>
            <a:pPr algn="ctr"/>
            <a:r>
              <a:rPr lang="en-IN" sz="4000" b="1" dirty="0"/>
              <a:t>Literature Survey</a:t>
            </a:r>
          </a:p>
        </p:txBody>
      </p:sp>
      <p:graphicFrame>
        <p:nvGraphicFramePr>
          <p:cNvPr id="9" name="Content Placeholder 8">
            <a:extLst>
              <a:ext uri="{FF2B5EF4-FFF2-40B4-BE49-F238E27FC236}">
                <a16:creationId xmlns:a16="http://schemas.microsoft.com/office/drawing/2014/main" id="{F95C902D-67BE-5002-8E32-744717FE11EB}"/>
              </a:ext>
            </a:extLst>
          </p:cNvPr>
          <p:cNvGraphicFramePr>
            <a:graphicFrameLocks noGrp="1"/>
          </p:cNvGraphicFramePr>
          <p:nvPr>
            <p:ph idx="1"/>
            <p:extLst>
              <p:ext uri="{D42A27DB-BD31-4B8C-83A1-F6EECF244321}">
                <p14:modId xmlns:p14="http://schemas.microsoft.com/office/powerpoint/2010/main" val="2094896973"/>
              </p:ext>
            </p:extLst>
          </p:nvPr>
        </p:nvGraphicFramePr>
        <p:xfrm>
          <a:off x="1817225" y="1080521"/>
          <a:ext cx="9722675" cy="5528625"/>
        </p:xfrm>
        <a:graphic>
          <a:graphicData uri="http://schemas.openxmlformats.org/drawingml/2006/table">
            <a:tbl>
              <a:tblPr/>
              <a:tblGrid>
                <a:gridCol w="851968">
                  <a:extLst>
                    <a:ext uri="{9D8B030D-6E8A-4147-A177-3AD203B41FA5}">
                      <a16:colId xmlns:a16="http://schemas.microsoft.com/office/drawing/2014/main" val="3057714953"/>
                    </a:ext>
                  </a:extLst>
                </a:gridCol>
                <a:gridCol w="2756899">
                  <a:extLst>
                    <a:ext uri="{9D8B030D-6E8A-4147-A177-3AD203B41FA5}">
                      <a16:colId xmlns:a16="http://schemas.microsoft.com/office/drawing/2014/main" val="2173866943"/>
                    </a:ext>
                  </a:extLst>
                </a:gridCol>
                <a:gridCol w="3056904">
                  <a:extLst>
                    <a:ext uri="{9D8B030D-6E8A-4147-A177-3AD203B41FA5}">
                      <a16:colId xmlns:a16="http://schemas.microsoft.com/office/drawing/2014/main" val="1257143231"/>
                    </a:ext>
                  </a:extLst>
                </a:gridCol>
                <a:gridCol w="3056904">
                  <a:extLst>
                    <a:ext uri="{9D8B030D-6E8A-4147-A177-3AD203B41FA5}">
                      <a16:colId xmlns:a16="http://schemas.microsoft.com/office/drawing/2014/main" val="499160808"/>
                    </a:ext>
                  </a:extLst>
                </a:gridCol>
              </a:tblGrid>
              <a:tr h="373985">
                <a:tc>
                  <a:txBody>
                    <a:bodyPr/>
                    <a:lstStyle/>
                    <a:p>
                      <a:pPr>
                        <a:buNone/>
                      </a:pPr>
                      <a:r>
                        <a:rPr lang="en-IN"/>
                        <a:t>S. 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Existing Approach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Technology / Method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Limitations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1091043"/>
                  </a:ext>
                </a:extLst>
              </a:tr>
              <a:tr h="670900">
                <a:tc>
                  <a:txBody>
                    <a:bodyPr/>
                    <a:lstStyle/>
                    <a:p>
                      <a:pPr>
                        <a:buNone/>
                      </a:pPr>
                      <a:r>
                        <a:rPr lang="en-IN"/>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News Aggregation Systems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Web APIs, Web Scraping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Mainly collect and display news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61649973"/>
                  </a:ext>
                </a:extLst>
              </a:tr>
              <a:tr h="670900">
                <a:tc>
                  <a:txBody>
                    <a:bodyPr/>
                    <a:lstStyle/>
                    <a:p>
                      <a:pPr>
                        <a:buNone/>
                      </a:pPr>
                      <a:r>
                        <a:rPr lang="en-IN"/>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Keyword Analysis Systems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Hashing, Frequency Counting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Limited trend analysis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21214535"/>
                  </a:ext>
                </a:extLst>
              </a:tr>
              <a:tr h="670900">
                <a:tc>
                  <a:txBody>
                    <a:bodyPr/>
                    <a:lstStyle/>
                    <a:p>
                      <a:pPr>
                        <a:buNone/>
                      </a:pPr>
                      <a:r>
                        <a:rPr lang="en-IN"/>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Sentiment Analysis Systems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Text Processing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Often focus only on sentiment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4964394"/>
                  </a:ext>
                </a:extLst>
              </a:tr>
              <a:tr h="967815">
                <a:tc>
                  <a:txBody>
                    <a:bodyPr/>
                    <a:lstStyle/>
                    <a:p>
                      <a:pPr>
                        <a:buNone/>
                      </a:pPr>
                      <a:r>
                        <a:rPr lang="en-IN"/>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Trending Topic Systems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Sorting, Ranking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May not combine multiple analytics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78369469"/>
                  </a:ext>
                </a:extLst>
              </a:tr>
              <a:tr h="670900">
                <a:tc>
                  <a:txBody>
                    <a:bodyPr/>
                    <a:lstStyle/>
                    <a:p>
                      <a:pPr>
                        <a:buNone/>
                      </a:pPr>
                      <a:r>
                        <a:rPr lang="en-IN"/>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Social Media Analytics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Hashtag &amp; Keyword Analysis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Can be difficult to process large datasets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88620197"/>
                  </a:ext>
                </a:extLst>
              </a:tr>
              <a:tr h="1503225">
                <a:tc>
                  <a:txBody>
                    <a:bodyPr/>
                    <a:lstStyle/>
                    <a:p>
                      <a:pPr>
                        <a:buNone/>
                      </a:pPr>
                      <a:r>
                        <a:rPr lang="en-IN"/>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0" dirty="0"/>
                        <a:t>Proposed System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0" dirty="0"/>
                        <a:t>Java + DSA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0" dirty="0"/>
                        <a:t>Combines keyword, hashtag, sentiment and trend analysis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13672235"/>
                  </a:ext>
                </a:extLst>
              </a:tr>
            </a:tbl>
          </a:graphicData>
        </a:graphic>
      </p:graphicFrame>
      <p:pic>
        <p:nvPicPr>
          <p:cNvPr id="4" name="Picture 3">
            <a:extLst>
              <a:ext uri="{FF2B5EF4-FFF2-40B4-BE49-F238E27FC236}">
                <a16:creationId xmlns:a16="http://schemas.microsoft.com/office/drawing/2014/main" id="{E43E9E77-AB66-B775-A519-1248ECC7B4AD}"/>
              </a:ext>
            </a:extLst>
          </p:cNvPr>
          <p:cNvPicPr>
            <a:picLocks noChangeAspect="1"/>
          </p:cNvPicPr>
          <p:nvPr/>
        </p:nvPicPr>
        <p:blipFill>
          <a:blip r:embed="rId2"/>
          <a:stretch>
            <a:fillRect/>
          </a:stretch>
        </p:blipFill>
        <p:spPr>
          <a:xfrm>
            <a:off x="151496" y="50801"/>
            <a:ext cx="1546506" cy="1546506"/>
          </a:xfrm>
          <a:prstGeom prst="rect">
            <a:avLst/>
          </a:prstGeom>
        </p:spPr>
      </p:pic>
    </p:spTree>
    <p:extLst>
      <p:ext uri="{BB962C8B-B14F-4D97-AF65-F5344CB8AC3E}">
        <p14:creationId xmlns:p14="http://schemas.microsoft.com/office/powerpoint/2010/main" val="36578493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17111-8DAA-6133-58C0-AD75C7458FEC}"/>
              </a:ext>
            </a:extLst>
          </p:cNvPr>
          <p:cNvSpPr>
            <a:spLocks noGrp="1"/>
          </p:cNvSpPr>
          <p:nvPr>
            <p:ph type="title"/>
          </p:nvPr>
        </p:nvSpPr>
        <p:spPr>
          <a:xfrm>
            <a:off x="838200" y="365125"/>
            <a:ext cx="10515600" cy="979179"/>
          </a:xfrm>
        </p:spPr>
        <p:txBody>
          <a:bodyPr>
            <a:normAutofit/>
          </a:bodyPr>
          <a:lstStyle/>
          <a:p>
            <a:pPr algn="ctr"/>
            <a:r>
              <a:rPr lang="en-IN" sz="4000" b="1" dirty="0"/>
              <a:t>Software Requirements</a:t>
            </a:r>
          </a:p>
        </p:txBody>
      </p:sp>
      <p:graphicFrame>
        <p:nvGraphicFramePr>
          <p:cNvPr id="4" name="Content Placeholder 3">
            <a:extLst>
              <a:ext uri="{FF2B5EF4-FFF2-40B4-BE49-F238E27FC236}">
                <a16:creationId xmlns:a16="http://schemas.microsoft.com/office/drawing/2014/main" id="{CA9A63D5-0DA9-584E-BD80-63AEABC0077F}"/>
              </a:ext>
            </a:extLst>
          </p:cNvPr>
          <p:cNvGraphicFramePr>
            <a:graphicFrameLocks noGrp="1"/>
          </p:cNvGraphicFramePr>
          <p:nvPr>
            <p:ph idx="1"/>
            <p:extLst>
              <p:ext uri="{D42A27DB-BD31-4B8C-83A1-F6EECF244321}">
                <p14:modId xmlns:p14="http://schemas.microsoft.com/office/powerpoint/2010/main" val="1865990915"/>
              </p:ext>
            </p:extLst>
          </p:nvPr>
        </p:nvGraphicFramePr>
        <p:xfrm>
          <a:off x="2503929" y="1696829"/>
          <a:ext cx="8144067" cy="3974552"/>
        </p:xfrm>
        <a:graphic>
          <a:graphicData uri="http://schemas.openxmlformats.org/drawingml/2006/table">
            <a:tbl>
              <a:tblPr/>
              <a:tblGrid>
                <a:gridCol w="3765989">
                  <a:extLst>
                    <a:ext uri="{9D8B030D-6E8A-4147-A177-3AD203B41FA5}">
                      <a16:colId xmlns:a16="http://schemas.microsoft.com/office/drawing/2014/main" val="2674471946"/>
                    </a:ext>
                  </a:extLst>
                </a:gridCol>
                <a:gridCol w="4378078">
                  <a:extLst>
                    <a:ext uri="{9D8B030D-6E8A-4147-A177-3AD203B41FA5}">
                      <a16:colId xmlns:a16="http://schemas.microsoft.com/office/drawing/2014/main" val="61816128"/>
                    </a:ext>
                  </a:extLst>
                </a:gridCol>
              </a:tblGrid>
              <a:tr h="488234">
                <a:tc>
                  <a:txBody>
                    <a:bodyPr/>
                    <a:lstStyle/>
                    <a:p>
                      <a:pPr>
                        <a:buNone/>
                      </a:pPr>
                      <a:r>
                        <a:rPr lang="en-IN" sz="2000" b="1" dirty="0"/>
                        <a:t>Software</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2000" b="1" dirty="0"/>
                        <a:t>Purpose</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05941194"/>
                  </a:ext>
                </a:extLst>
              </a:tr>
              <a:tr h="569376">
                <a:tc>
                  <a:txBody>
                    <a:bodyPr/>
                    <a:lstStyle/>
                    <a:p>
                      <a:pPr>
                        <a:buNone/>
                      </a:pPr>
                      <a:r>
                        <a:rPr lang="en-IN" b="0" dirty="0"/>
                        <a:t>Java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dirty="0"/>
                        <a:t>Main programming language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19929857"/>
                  </a:ext>
                </a:extLst>
              </a:tr>
              <a:tr h="514070">
                <a:tc>
                  <a:txBody>
                    <a:bodyPr/>
                    <a:lstStyle/>
                    <a:p>
                      <a:pPr>
                        <a:buNone/>
                      </a:pPr>
                      <a:r>
                        <a:rPr lang="en-IN" b="0" dirty="0"/>
                        <a:t>JDK 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a:t>Compile and run the project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76823992"/>
                  </a:ext>
                </a:extLst>
              </a:tr>
              <a:tr h="569376">
                <a:tc>
                  <a:txBody>
                    <a:bodyPr/>
                    <a:lstStyle/>
                    <a:p>
                      <a:pPr>
                        <a:buNone/>
                      </a:pPr>
                      <a:r>
                        <a:rPr lang="en-IN" b="0" dirty="0"/>
                        <a:t>IntelliJ IDEA / Eclipse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a:t>Development environment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60049035"/>
                  </a:ext>
                </a:extLst>
              </a:tr>
              <a:tr h="569376">
                <a:tc>
                  <a:txBody>
                    <a:bodyPr/>
                    <a:lstStyle/>
                    <a:p>
                      <a:pPr>
                        <a:buNone/>
                      </a:pPr>
                      <a:r>
                        <a:rPr lang="en-IN" b="0" dirty="0"/>
                        <a:t>Java Collections Framework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a:t>Implement data structures and algorithms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13147758"/>
                  </a:ext>
                </a:extLst>
              </a:tr>
              <a:tr h="804440">
                <a:tc>
                  <a:txBody>
                    <a:bodyPr/>
                    <a:lstStyle/>
                    <a:p>
                      <a:pPr>
                        <a:buNone/>
                      </a:pPr>
                      <a:r>
                        <a:rPr lang="en-IN" b="0" dirty="0"/>
                        <a:t>CSV / TXT Files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a:t>Store and read news and social media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943453"/>
                  </a:ext>
                </a:extLst>
              </a:tr>
              <a:tr h="459680">
                <a:tc>
                  <a:txBody>
                    <a:bodyPr/>
                    <a:lstStyle/>
                    <a:p>
                      <a:pPr>
                        <a:buNone/>
                      </a:pPr>
                      <a:r>
                        <a:rPr lang="en-IN" b="0" dirty="0"/>
                        <a:t>Git / GitHub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dirty="0"/>
                        <a:t>Version control and code management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17649941"/>
                  </a:ext>
                </a:extLst>
              </a:tr>
            </a:tbl>
          </a:graphicData>
        </a:graphic>
      </p:graphicFrame>
      <p:pic>
        <p:nvPicPr>
          <p:cNvPr id="5" name="Picture 4">
            <a:extLst>
              <a:ext uri="{FF2B5EF4-FFF2-40B4-BE49-F238E27FC236}">
                <a16:creationId xmlns:a16="http://schemas.microsoft.com/office/drawing/2014/main" id="{F4AAA942-905E-3FE2-A967-7463CCD81606}"/>
              </a:ext>
            </a:extLst>
          </p:cNvPr>
          <p:cNvPicPr>
            <a:picLocks noChangeAspect="1"/>
          </p:cNvPicPr>
          <p:nvPr/>
        </p:nvPicPr>
        <p:blipFill>
          <a:blip r:embed="rId2"/>
          <a:stretch>
            <a:fillRect/>
          </a:stretch>
        </p:blipFill>
        <p:spPr>
          <a:xfrm>
            <a:off x="6544" y="0"/>
            <a:ext cx="1526833" cy="1526833"/>
          </a:xfrm>
          <a:prstGeom prst="rect">
            <a:avLst/>
          </a:prstGeom>
        </p:spPr>
      </p:pic>
    </p:spTree>
    <p:extLst>
      <p:ext uri="{BB962C8B-B14F-4D97-AF65-F5344CB8AC3E}">
        <p14:creationId xmlns:p14="http://schemas.microsoft.com/office/powerpoint/2010/main" val="41666440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2A518-E7BB-FB2E-F0F9-D95C23D15CA6}"/>
              </a:ext>
            </a:extLst>
          </p:cNvPr>
          <p:cNvSpPr>
            <a:spLocks noGrp="1"/>
          </p:cNvSpPr>
          <p:nvPr>
            <p:ph type="title"/>
          </p:nvPr>
        </p:nvSpPr>
        <p:spPr/>
        <p:txBody>
          <a:bodyPr>
            <a:normAutofit/>
          </a:bodyPr>
          <a:lstStyle/>
          <a:p>
            <a:pPr algn="ctr"/>
            <a:r>
              <a:rPr lang="en-IN" sz="4000" b="1" dirty="0"/>
              <a:t>Hardware Requirements</a:t>
            </a:r>
          </a:p>
        </p:txBody>
      </p:sp>
      <p:graphicFrame>
        <p:nvGraphicFramePr>
          <p:cNvPr id="4" name="Content Placeholder 3">
            <a:extLst>
              <a:ext uri="{FF2B5EF4-FFF2-40B4-BE49-F238E27FC236}">
                <a16:creationId xmlns:a16="http://schemas.microsoft.com/office/drawing/2014/main" id="{DD818198-3D7C-B6F1-5FB4-BF9E67603DCD}"/>
              </a:ext>
            </a:extLst>
          </p:cNvPr>
          <p:cNvGraphicFramePr>
            <a:graphicFrameLocks noGrp="1"/>
          </p:cNvGraphicFramePr>
          <p:nvPr>
            <p:ph idx="1"/>
            <p:extLst>
              <p:ext uri="{D42A27DB-BD31-4B8C-83A1-F6EECF244321}">
                <p14:modId xmlns:p14="http://schemas.microsoft.com/office/powerpoint/2010/main" val="1995655464"/>
              </p:ext>
            </p:extLst>
          </p:nvPr>
        </p:nvGraphicFramePr>
        <p:xfrm>
          <a:off x="2538398" y="1690688"/>
          <a:ext cx="7690513" cy="3807255"/>
        </p:xfrm>
        <a:graphic>
          <a:graphicData uri="http://schemas.openxmlformats.org/drawingml/2006/table">
            <a:tbl>
              <a:tblPr/>
              <a:tblGrid>
                <a:gridCol w="3364775">
                  <a:extLst>
                    <a:ext uri="{9D8B030D-6E8A-4147-A177-3AD203B41FA5}">
                      <a16:colId xmlns:a16="http://schemas.microsoft.com/office/drawing/2014/main" val="401701923"/>
                    </a:ext>
                  </a:extLst>
                </a:gridCol>
                <a:gridCol w="4325738">
                  <a:extLst>
                    <a:ext uri="{9D8B030D-6E8A-4147-A177-3AD203B41FA5}">
                      <a16:colId xmlns:a16="http://schemas.microsoft.com/office/drawing/2014/main" val="3207574371"/>
                    </a:ext>
                  </a:extLst>
                </a:gridCol>
              </a:tblGrid>
              <a:tr h="629005">
                <a:tc>
                  <a:txBody>
                    <a:bodyPr/>
                    <a:lstStyle/>
                    <a:p>
                      <a:pPr>
                        <a:buNone/>
                      </a:pPr>
                      <a:r>
                        <a:rPr lang="en-IN" sz="2000" b="1" dirty="0"/>
                        <a:t>Component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dirty="0"/>
                        <a:t>Requirement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15210951"/>
                  </a:ext>
                </a:extLst>
              </a:tr>
              <a:tr h="629005">
                <a:tc>
                  <a:txBody>
                    <a:bodyPr/>
                    <a:lstStyle/>
                    <a:p>
                      <a:pPr>
                        <a:buNone/>
                      </a:pPr>
                      <a:r>
                        <a:rPr lang="en-IN" b="0" dirty="0"/>
                        <a:t>Processor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Intel Core i3 or above – runs the application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14420092"/>
                  </a:ext>
                </a:extLst>
              </a:tr>
              <a:tr h="629005">
                <a:tc>
                  <a:txBody>
                    <a:bodyPr/>
                    <a:lstStyle/>
                    <a:p>
                      <a:pPr>
                        <a:buNone/>
                      </a:pPr>
                      <a:r>
                        <a:rPr lang="en-IN" b="0"/>
                        <a:t>RAM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4 GB minimum – supports program execution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47967671"/>
                  </a:ext>
                </a:extLst>
              </a:tr>
              <a:tr h="629005">
                <a:tc>
                  <a:txBody>
                    <a:bodyPr/>
                    <a:lstStyle/>
                    <a:p>
                      <a:pPr>
                        <a:buNone/>
                      </a:pPr>
                      <a:r>
                        <a:rPr lang="en-IN" b="0" dirty="0"/>
                        <a:t>Storage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10 GB free space – stores project files and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5825906"/>
                  </a:ext>
                </a:extLst>
              </a:tr>
              <a:tr h="629005">
                <a:tc>
                  <a:txBody>
                    <a:bodyPr/>
                    <a:lstStyle/>
                    <a:p>
                      <a:pPr>
                        <a:buNone/>
                      </a:pPr>
                      <a:r>
                        <a:rPr lang="en-IN" b="0"/>
                        <a:t>Monitor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14" or above – displays the application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54014244"/>
                  </a:ext>
                </a:extLst>
              </a:tr>
              <a:tr h="629005">
                <a:tc>
                  <a:txBody>
                    <a:bodyPr/>
                    <a:lstStyle/>
                    <a:p>
                      <a:pPr>
                        <a:buNone/>
                      </a:pPr>
                      <a:r>
                        <a:rPr lang="en-IN" b="0" dirty="0"/>
                        <a:t>Keyboard &amp; Mouse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Standard – user interaction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56384748"/>
                  </a:ext>
                </a:extLst>
              </a:tr>
            </a:tbl>
          </a:graphicData>
        </a:graphic>
      </p:graphicFrame>
      <p:pic>
        <p:nvPicPr>
          <p:cNvPr id="5" name="Picture 4">
            <a:extLst>
              <a:ext uri="{FF2B5EF4-FFF2-40B4-BE49-F238E27FC236}">
                <a16:creationId xmlns:a16="http://schemas.microsoft.com/office/drawing/2014/main" id="{9CA4DC6B-AB06-F81B-C456-95BE35C77D8E}"/>
              </a:ext>
            </a:extLst>
          </p:cNvPr>
          <p:cNvPicPr>
            <a:picLocks noChangeAspect="1"/>
          </p:cNvPicPr>
          <p:nvPr/>
        </p:nvPicPr>
        <p:blipFill>
          <a:blip r:embed="rId2"/>
          <a:stretch>
            <a:fillRect/>
          </a:stretch>
        </p:blipFill>
        <p:spPr>
          <a:xfrm>
            <a:off x="6544" y="0"/>
            <a:ext cx="1526833" cy="1526833"/>
          </a:xfrm>
          <a:prstGeom prst="rect">
            <a:avLst/>
          </a:prstGeom>
        </p:spPr>
      </p:pic>
    </p:spTree>
    <p:extLst>
      <p:ext uri="{BB962C8B-B14F-4D97-AF65-F5344CB8AC3E}">
        <p14:creationId xmlns:p14="http://schemas.microsoft.com/office/powerpoint/2010/main" val="31846890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99378-C4C8-196D-BB80-2EF341212795}"/>
              </a:ext>
            </a:extLst>
          </p:cNvPr>
          <p:cNvSpPr>
            <a:spLocks noGrp="1"/>
          </p:cNvSpPr>
          <p:nvPr>
            <p:ph type="title"/>
          </p:nvPr>
        </p:nvSpPr>
        <p:spPr>
          <a:xfrm>
            <a:off x="-3315642" y="2766218"/>
            <a:ext cx="10515600" cy="1325563"/>
          </a:xfrm>
        </p:spPr>
        <p:txBody>
          <a:bodyPr>
            <a:normAutofit/>
          </a:bodyPr>
          <a:lstStyle/>
          <a:p>
            <a:pPr algn="ctr"/>
            <a:r>
              <a:rPr lang="en-IN" sz="4000" b="1" dirty="0"/>
              <a:t>Methodology</a:t>
            </a:r>
          </a:p>
        </p:txBody>
      </p:sp>
      <p:pic>
        <p:nvPicPr>
          <p:cNvPr id="7" name="Content Placeholder 6">
            <a:extLst>
              <a:ext uri="{FF2B5EF4-FFF2-40B4-BE49-F238E27FC236}">
                <a16:creationId xmlns:a16="http://schemas.microsoft.com/office/drawing/2014/main" id="{54208A0F-4D6A-B361-62D6-D4143886CF6E}"/>
              </a:ext>
            </a:extLst>
          </p:cNvPr>
          <p:cNvPicPr>
            <a:picLocks noGrp="1" noChangeAspect="1"/>
          </p:cNvPicPr>
          <p:nvPr>
            <p:ph idx="1"/>
          </p:nvPr>
        </p:nvPicPr>
        <p:blipFill>
          <a:blip r:embed="rId2"/>
          <a:stretch>
            <a:fillRect/>
          </a:stretch>
        </p:blipFill>
        <p:spPr>
          <a:xfrm>
            <a:off x="5019458" y="144683"/>
            <a:ext cx="5628178" cy="6568633"/>
          </a:xfrm>
          <a:prstGeom prst="rect">
            <a:avLst/>
          </a:prstGeom>
        </p:spPr>
      </p:pic>
      <p:pic>
        <p:nvPicPr>
          <p:cNvPr id="5" name="Picture 4">
            <a:extLst>
              <a:ext uri="{FF2B5EF4-FFF2-40B4-BE49-F238E27FC236}">
                <a16:creationId xmlns:a16="http://schemas.microsoft.com/office/drawing/2014/main" id="{3AEC96C8-6199-EDA1-B417-D186D8EE1DFC}"/>
              </a:ext>
            </a:extLst>
          </p:cNvPr>
          <p:cNvPicPr>
            <a:picLocks noChangeAspect="1"/>
          </p:cNvPicPr>
          <p:nvPr/>
        </p:nvPicPr>
        <p:blipFill>
          <a:blip r:embed="rId3"/>
          <a:stretch>
            <a:fillRect/>
          </a:stretch>
        </p:blipFill>
        <p:spPr>
          <a:xfrm>
            <a:off x="6544" y="0"/>
            <a:ext cx="1526833" cy="1526833"/>
          </a:xfrm>
          <a:prstGeom prst="rect">
            <a:avLst/>
          </a:prstGeom>
        </p:spPr>
      </p:pic>
    </p:spTree>
    <p:extLst>
      <p:ext uri="{BB962C8B-B14F-4D97-AF65-F5344CB8AC3E}">
        <p14:creationId xmlns:p14="http://schemas.microsoft.com/office/powerpoint/2010/main" val="21572763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0B5E9-EF45-47AF-CE2A-3A9790C60137}"/>
              </a:ext>
            </a:extLst>
          </p:cNvPr>
          <p:cNvSpPr>
            <a:spLocks noGrp="1"/>
          </p:cNvSpPr>
          <p:nvPr>
            <p:ph type="title"/>
          </p:nvPr>
        </p:nvSpPr>
        <p:spPr>
          <a:xfrm>
            <a:off x="363638" y="318051"/>
            <a:ext cx="10515600" cy="1325563"/>
          </a:xfrm>
        </p:spPr>
        <p:txBody>
          <a:bodyPr>
            <a:normAutofit/>
          </a:bodyPr>
          <a:lstStyle/>
          <a:p>
            <a:pPr algn="ctr"/>
            <a:r>
              <a:rPr lang="en-IN" sz="4000" b="1" dirty="0"/>
              <a:t>Conclusion</a:t>
            </a:r>
          </a:p>
        </p:txBody>
      </p:sp>
      <p:sp>
        <p:nvSpPr>
          <p:cNvPr id="3" name="Content Placeholder 2">
            <a:extLst>
              <a:ext uri="{FF2B5EF4-FFF2-40B4-BE49-F238E27FC236}">
                <a16:creationId xmlns:a16="http://schemas.microsoft.com/office/drawing/2014/main" id="{EC157A43-7F2A-11FF-3C67-A9E887E9A3D9}"/>
              </a:ext>
            </a:extLst>
          </p:cNvPr>
          <p:cNvSpPr>
            <a:spLocks noGrp="1"/>
          </p:cNvSpPr>
          <p:nvPr>
            <p:ph idx="1"/>
          </p:nvPr>
        </p:nvSpPr>
        <p:spPr>
          <a:xfrm>
            <a:off x="1237528" y="1844884"/>
            <a:ext cx="10671857" cy="4947313"/>
          </a:xfrm>
        </p:spPr>
        <p:txBody>
          <a:bodyPr>
            <a:noAutofit/>
          </a:bodyPr>
          <a:lstStyle/>
          <a:p>
            <a:pPr marL="0" indent="0">
              <a:buNone/>
            </a:pPr>
            <a:r>
              <a:rPr lang="en-IN" sz="2400" dirty="0"/>
              <a:t>      The News &amp; Social Media Analytics Engine successfully demonstrates how Data Structures and Algorithms can be applied to </a:t>
            </a:r>
            <a:r>
              <a:rPr lang="en-IN" sz="2400" dirty="0" err="1"/>
              <a:t>analyze</a:t>
            </a:r>
            <a:r>
              <a:rPr lang="en-IN" sz="2400" dirty="0"/>
              <a:t> and organize continuously growing textual data. By processing news and social media content, the system can identify popular keywords, hashtags, trending topics, and sentiment, providing a clear overview of the information present in the </a:t>
            </a:r>
            <a:r>
              <a:rPr lang="en-IN" sz="2400" dirty="0" err="1"/>
              <a:t>dataset.The</a:t>
            </a:r>
            <a:r>
              <a:rPr lang="en-IN" sz="2400" dirty="0"/>
              <a:t> use of HashMap, Lists, Searching, Sorting, and Priority Queue makes the system efficient for storing, retrieving, counting, and ranking data. Overall, this project provides a practical and easy-to-understand application of DSA concepts while showing how efficient algorithms can transform raw data into useful and meaningful insights.</a:t>
            </a:r>
          </a:p>
          <a:p>
            <a:pPr marL="0" indent="0">
              <a:buNone/>
            </a:pPr>
            <a:endParaRPr lang="en-IN" sz="2400" dirty="0"/>
          </a:p>
        </p:txBody>
      </p:sp>
      <p:pic>
        <p:nvPicPr>
          <p:cNvPr id="5" name="Picture 4">
            <a:extLst>
              <a:ext uri="{FF2B5EF4-FFF2-40B4-BE49-F238E27FC236}">
                <a16:creationId xmlns:a16="http://schemas.microsoft.com/office/drawing/2014/main" id="{F3CFA006-8098-749E-434F-2C99898EB220}"/>
              </a:ext>
            </a:extLst>
          </p:cNvPr>
          <p:cNvPicPr>
            <a:picLocks noChangeAspect="1"/>
          </p:cNvPicPr>
          <p:nvPr/>
        </p:nvPicPr>
        <p:blipFill>
          <a:blip r:embed="rId2"/>
          <a:stretch>
            <a:fillRect/>
          </a:stretch>
        </p:blipFill>
        <p:spPr>
          <a:xfrm>
            <a:off x="6544" y="0"/>
            <a:ext cx="1526833" cy="1526833"/>
          </a:xfrm>
          <a:prstGeom prst="rect">
            <a:avLst/>
          </a:prstGeom>
        </p:spPr>
      </p:pic>
    </p:spTree>
    <p:extLst>
      <p:ext uri="{BB962C8B-B14F-4D97-AF65-F5344CB8AC3E}">
        <p14:creationId xmlns:p14="http://schemas.microsoft.com/office/powerpoint/2010/main" val="16932987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0ACBD-8A06-06E2-62D0-C203BD6F39B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C7B660E-B9B5-B49F-AC39-6CA3610202BA}"/>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0660491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64</TotalTime>
  <Words>538</Words>
  <Application>Microsoft Office PowerPoint</Application>
  <PresentationFormat>Widescreen</PresentationFormat>
  <Paragraphs>75</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The News &amp; Social Media Analytics Engine</vt:lpstr>
      <vt:lpstr> Introduction</vt:lpstr>
      <vt:lpstr>Literature Survey</vt:lpstr>
      <vt:lpstr>Software Requirements</vt:lpstr>
      <vt:lpstr>Hardware Requirements</vt:lpstr>
      <vt:lpstr>Methodology</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Sutte Alekhya Reddy</dc:creator>
  <cp:lastModifiedBy>Jhanasri Thota</cp:lastModifiedBy>
  <cp:revision>3</cp:revision>
  <dcterms:created xsi:type="dcterms:W3CDTF">2026-08-20T04:46:53Z</dcterms:created>
  <dcterms:modified xsi:type="dcterms:W3CDTF">2026-08-27T07:09:11Z</dcterms:modified>
</cp:coreProperties>
</file>